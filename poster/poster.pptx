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30276000" cy="4280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chart>
    <c:title>
      <c:tx>
        <c:rich>
          <a:bodyPr/>
          <a:lstStyle/>
          <a:p>
            <a:r>
              <a:rPr sz="2600" b="1">
                <a:solidFill>
                  <a:srgbClr val="13293D"/>
                </a:solidFill>
              </a:rPr>
              <a:t>Citations removed</a:t>
            </a:r>
          </a:p>
        </c:rich>
      </c:tx>
      <c:layout/>
      <c:overlay val="0"/>
    </c:title>
    <c:plotArea>
      <c:scatterChart>
        <c:scatterStyle val="lineMarker"/>
        <c:varyColors val="0"/>
        <c:ser>
          <c:idx val="0"/>
          <c:order val="0"/>
          <c:tx>
            <c:strRef>
              <c:f>Sheet1!$B$1</c:f>
              <c:strCache>
                <c:ptCount val="1"/>
                <c:pt idx="0">
                  <c:v>Degree</c:v>
                </c:pt>
              </c:strCache>
            </c:strRef>
          </c:tx>
          <c:spPr>
            <a:ln w="44450">
              <a:solidFill>
                <a:srgbClr val="7A8B99"/>
              </a:solidFill>
            </a:ln>
          </c:spPr>
          <c:marker>
            <c:symbol val="circle"/>
            <c:size val="10"/>
            <c:spPr>
              <a:solidFill>
                <a:srgbClr val="7A8B99"/>
              </a:solidFill>
              <a:ln>
                <a:solidFill>
                  <a:srgbClr val="7A8B99"/>
                </a:solidFill>
              </a:ln>
            </c:spPr>
          </c:marker>
          <c:xVal>
            <c:numRef>
              <c:f>Sheet1!$A$2:$A$4</c:f>
              <c:numCache>
                <c:formatCode>General</c:formatCode>
                <c:ptCount val="3"/>
                <c:pt idx="0">
                  <c:v>5.0</c:v>
                </c:pt>
                <c:pt idx="1">
                  <c:v>10.0</c:v>
                </c:pt>
                <c:pt idx="2">
                  <c:v>20.0</c:v>
                </c:pt>
              </c:numCache>
            </c:numRef>
          </c:xVal>
          <c:yVal>
            <c:numRef>
              <c:f>Sheet1!$B$2:$B$4</c:f>
              <c:numCache>
                <c:formatCode>General</c:formatCode>
                <c:ptCount val="3"/>
                <c:pt idx="0">
                  <c:v>0.9786444638066274</c:v>
                </c:pt>
                <c:pt idx="1">
                  <c:v>0.9573210571086784</c:v>
                </c:pt>
                <c:pt idx="2">
                  <c:v>0.9152463864773794</c:v>
                </c:pt>
              </c:numCache>
            </c:numRef>
          </c:yVal>
          <c:smooth val="0"/>
        </c:ser>
        <c:ser>
          <c:idx val="1"/>
          <c:order val="1"/>
          <c:tx>
            <c:strRef>
              <c:f>Sheet1!$B$6</c:f>
              <c:strCache>
                <c:ptCount val="1"/>
                <c:pt idx="0">
                  <c:v>Closeness</c:v>
                </c:pt>
              </c:strCache>
            </c:strRef>
          </c:tx>
          <c:spPr>
            <a:ln w="44450">
              <a:solidFill>
                <a:srgbClr val="5B8E7D"/>
              </a:solidFill>
            </a:ln>
          </c:spPr>
          <c:marker>
            <c:symbol val="circle"/>
            <c:size val="10"/>
            <c:spPr>
              <a:solidFill>
                <a:srgbClr val="5B8E7D"/>
              </a:solidFill>
              <a:ln>
                <a:solidFill>
                  <a:srgbClr val="5B8E7D"/>
                </a:solidFill>
              </a:ln>
            </c:spPr>
          </c:marker>
          <c:xVal>
            <c:numRef>
              <c:f>Sheet1!$A$7:$A$9</c:f>
              <c:numCache>
                <c:formatCode>General</c:formatCode>
                <c:ptCount val="3"/>
                <c:pt idx="0">
                  <c:v>5.0</c:v>
                </c:pt>
                <c:pt idx="1">
                  <c:v>10.0</c:v>
                </c:pt>
                <c:pt idx="2">
                  <c:v>20.0</c:v>
                </c:pt>
              </c:numCache>
            </c:numRef>
          </c:xVal>
          <c:yVal>
            <c:numRef>
              <c:f>Sheet1!$B$7:$B$9</c:f>
              <c:numCache>
                <c:formatCode>General</c:formatCode>
                <c:ptCount val="3"/>
                <c:pt idx="0">
                  <c:v>0.9655851169723368</c:v>
                </c:pt>
                <c:pt idx="1">
                  <c:v>0.9321667752966296</c:v>
                </c:pt>
                <c:pt idx="2">
                  <c:v>0.8620553563994732</c:v>
                </c:pt>
              </c:numCache>
            </c:numRef>
          </c:yVal>
          <c:smooth val="0"/>
        </c:ser>
        <c:ser>
          <c:idx val="2"/>
          <c:order val="2"/>
          <c:tx>
            <c:strRef>
              <c:f>Sheet1!$B$11</c:f>
              <c:strCache>
                <c:ptCount val="1"/>
                <c:pt idx="0">
                  <c:v>Random Forest (with PageRank input)</c:v>
                </c:pt>
              </c:strCache>
            </c:strRef>
          </c:tx>
          <c:spPr>
            <a:ln w="57150">
              <a:solidFill>
                <a:srgbClr val="F2C57C"/>
              </a:solidFill>
            </a:ln>
          </c:spPr>
          <c:marker>
            <c:symbol val="circle"/>
            <c:size val="10"/>
            <c:spPr>
              <a:solidFill>
                <a:srgbClr val="F2C57C"/>
              </a:solidFill>
              <a:ln>
                <a:solidFill>
                  <a:srgbClr val="F2C57C"/>
                </a:solidFill>
              </a:ln>
            </c:spPr>
          </c:marker>
          <c:xVal>
            <c:numRef>
              <c:f>Sheet1!$A$12:$A$14</c:f>
              <c:numCache>
                <c:formatCode>General</c:formatCode>
                <c:ptCount val="3"/>
                <c:pt idx="0">
                  <c:v>5.0</c:v>
                </c:pt>
                <c:pt idx="1">
                  <c:v>10.0</c:v>
                </c:pt>
                <c:pt idx="2">
                  <c:v>20.0</c:v>
                </c:pt>
              </c:numCache>
            </c:numRef>
          </c:xVal>
          <c:yVal>
            <c:numRef>
              <c:f>Sheet1!$B$12:$B$14</c:f>
              <c:numCache>
                <c:formatCode>General</c:formatCode>
                <c:ptCount val="3"/>
                <c:pt idx="0">
                  <c:v>0.964941686220794</c:v>
                </c:pt>
                <c:pt idx="1">
                  <c:v>0.9305153484063744</c:v>
                </c:pt>
                <c:pt idx="2">
                  <c:v>0.8610605034177318</c:v>
                </c:pt>
              </c:numCache>
            </c:numRef>
          </c:yVal>
          <c:smooth val="0"/>
        </c:ser>
        <c:ser>
          <c:idx val="3"/>
          <c:order val="3"/>
          <c:tx>
            <c:strRef>
              <c:f>Sheet1!$B$16</c:f>
              <c:strCache>
                <c:ptCount val="1"/>
                <c:pt idx="0">
                  <c:v>PageRank</c:v>
                </c:pt>
              </c:strCache>
            </c:strRef>
          </c:tx>
          <c:spPr>
            <a:ln w="57150">
              <a:solidFill>
                <a:srgbClr val="B23A48"/>
              </a:solidFill>
            </a:ln>
          </c:spPr>
          <c:marker>
            <c:symbol val="circle"/>
            <c:size val="10"/>
            <c:spPr>
              <a:solidFill>
                <a:srgbClr val="B23A48"/>
              </a:solidFill>
              <a:ln>
                <a:solidFill>
                  <a:srgbClr val="B23A48"/>
                </a:solidFill>
              </a:ln>
            </c:spPr>
          </c:marker>
          <c:xVal>
            <c:numRef>
              <c:f>Sheet1!$A$17:$A$19</c:f>
              <c:numCache>
                <c:formatCode>General</c:formatCode>
                <c:ptCount val="3"/>
                <c:pt idx="0">
                  <c:v>5.0</c:v>
                </c:pt>
                <c:pt idx="1">
                  <c:v>10.0</c:v>
                </c:pt>
                <c:pt idx="2">
                  <c:v>20.0</c:v>
                </c:pt>
              </c:numCache>
            </c:numRef>
          </c:xVal>
          <c:yVal>
            <c:numRef>
              <c:f>Sheet1!$B$17:$B$19</c:f>
              <c:numCache>
                <c:formatCode>General</c:formatCode>
                <c:ptCount val="3"/>
                <c:pt idx="0">
                  <c:v>0.964950700599122</c:v>
                </c:pt>
                <c:pt idx="1">
                  <c:v>0.9305252462153328</c:v>
                </c:pt>
                <c:pt idx="2">
                  <c:v>0.8610732086423358</c:v>
                </c:pt>
              </c:numCache>
            </c:numRef>
          </c:yVal>
          <c:smooth val="0"/>
        </c:ser>
        <c:ser>
          <c:idx val="4"/>
          <c:order val="4"/>
          <c:tx>
            <c:strRef>
              <c:f>Sheet1!$B$21</c:f>
              <c:strCache>
                <c:ptCount val="1"/>
                <c:pt idx="0">
                  <c:v>Random Forest (no PageRank input)</c:v>
                </c:pt>
              </c:strCache>
            </c:strRef>
          </c:tx>
          <c:spPr>
            <a:ln w="88900">
              <a:solidFill>
                <a:srgbClr val="D98E04"/>
              </a:solidFill>
            </a:ln>
          </c:spPr>
          <c:marker>
            <c:symbol val="circle"/>
            <c:size val="14"/>
            <c:spPr>
              <a:solidFill>
                <a:srgbClr val="D98E04"/>
              </a:solidFill>
              <a:ln>
                <a:solidFill>
                  <a:srgbClr val="D98E04"/>
                </a:solidFill>
              </a:ln>
            </c:spPr>
          </c:marker>
          <c:xVal>
            <c:numRef>
              <c:f>Sheet1!$A$22:$A$24</c:f>
              <c:numCache>
                <c:formatCode>General</c:formatCode>
                <c:ptCount val="3"/>
                <c:pt idx="0">
                  <c:v>5.0</c:v>
                </c:pt>
                <c:pt idx="1">
                  <c:v>10.0</c:v>
                </c:pt>
                <c:pt idx="2">
                  <c:v>20.0</c:v>
                </c:pt>
              </c:numCache>
            </c:numRef>
          </c:xVal>
          <c:yVal>
            <c:numRef>
              <c:f>Sheet1!$B$22:$B$24</c:f>
              <c:numCache>
                <c:formatCode>General</c:formatCode>
                <c:ptCount val="3"/>
                <c:pt idx="0">
                  <c:v>0.9417577227555168</c:v>
                </c:pt>
                <c:pt idx="1">
                  <c:v>0.8990077512927211</c:v>
                </c:pt>
                <c:pt idx="2">
                  <c:v>0.8286399564756753</c:v>
                </c:pt>
              </c:numCache>
            </c:numRef>
          </c:yVal>
          <c:smooth val="0"/>
        </c:ser>
        <c:axId val="-2128940872"/>
        <c:axId val="-2129643912"/>
      </c:scatterChart>
      <c:valAx>
        <c:axId val="-2128940872"/>
        <c:scaling>
          <c:orientation val="minMax"/>
          <c:max val="25.0"/>
          <c:min val="0.0"/>
        </c:scaling>
        <c:delete val="0"/>
        <c:axPos val="b"/>
        <c:numFmt formatCode="0&quot;%&quot;" sourceLinked="0"/>
        <c:majorTickMark val="out"/>
        <c:minorTickMark val="none"/>
        <c:tickLblPos val="nextTo"/>
        <c:spPr>
          <a:ln>
            <a:solidFill>
              <a:srgbClr val="C9D2D9"/>
            </a:solidFill>
          </a:ln>
        </c:spPr>
        <c:txPr>
          <a:bodyPr/>
          <a:lstStyle/>
          <a:p>
            <a:pPr>
              <a:defRPr sz="2200">
                <a:solidFill>
                  <a:srgbClr val="5B6770"/>
                </a:solidFill>
                <a:latin typeface="Calibri"/>
              </a:defRPr>
            </a:pPr>
          </a:p>
        </c:txPr>
        <c:crossAx val="-2129643912"/>
        <c:crosses val="autoZero"/>
        <c:crossBetween val="midCat"/>
        <c:majorUnit val="5.0"/>
      </c:valAx>
      <c:valAx>
        <c:axId val="-2129643912"/>
        <c:scaling>
          <c:orientation val="minMax"/>
          <c:max val="1.0"/>
          <c:min val="0.3"/>
        </c:scaling>
        <c:delete val="0"/>
        <c:axPos val="l"/>
        <c:majorGridlines>
          <c:spPr>
            <a:ln>
              <a:solidFill>
                <a:srgbClr val="C9D2D9"/>
              </a:solidFill>
            </a:ln>
          </c:spPr>
        </c:majorGridlines>
        <c:numFmt formatCode="0.0" sourceLinked="0"/>
        <c:majorTickMark val="out"/>
        <c:minorTickMark val="none"/>
        <c:tickLblPos val="nextTo"/>
        <c:spPr>
          <a:ln>
            <a:solidFill>
              <a:srgbClr val="C9D2D9"/>
            </a:solidFill>
          </a:ln>
        </c:spPr>
        <c:txPr>
          <a:bodyPr/>
          <a:lstStyle/>
          <a:p>
            <a:pPr>
              <a:defRPr sz="2200">
                <a:solidFill>
                  <a:srgbClr val="5B6770"/>
                </a:solidFill>
                <a:latin typeface="Calibri"/>
              </a:defRPr>
            </a:pPr>
          </a:p>
        </c:txPr>
        <c:crossAx val="-2128940872"/>
        <c:crosses val="autoZero"/>
        <c:crossBetween val="midCat"/>
        <c:majorUnit val="0.1"/>
      </c:valAx>
    </c:plotArea>
    <c:plotVisOnly val="1"/>
    <c:dispBlanksAs val="gap"/>
    <c:showDLblsOverMax val="0"/>
  </c:chart>
  <c:txPr>
    <a:bodyPr/>
    <a:lstStyle/>
    <a:p>
      <a:pPr>
        <a:defRPr sz="22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r>
              <a:rPr sz="2600" b="1">
                <a:solidFill>
                  <a:srgbClr val="13293D"/>
                </a:solidFill>
              </a:rPr>
              <a:t>Citations added, newer → older</a:t>
            </a:r>
          </a:p>
        </c:rich>
      </c:tx>
      <c:layout/>
      <c:overlay val="0"/>
    </c:title>
    <c:plotArea>
      <c:scatterChart>
        <c:scatterStyle val="lineMarker"/>
        <c:varyColors val="0"/>
        <c:ser>
          <c:idx val="0"/>
          <c:order val="0"/>
          <c:tx>
            <c:strRef>
              <c:f>Sheet1!$B$1</c:f>
              <c:strCache>
                <c:ptCount val="1"/>
                <c:pt idx="0">
                  <c:v>Degree</c:v>
                </c:pt>
              </c:strCache>
            </c:strRef>
          </c:tx>
          <c:spPr>
            <a:ln w="44450">
              <a:solidFill>
                <a:srgbClr val="7A8B99"/>
              </a:solidFill>
            </a:ln>
          </c:spPr>
          <c:marker>
            <c:symbol val="circle"/>
            <c:size val="10"/>
            <c:spPr>
              <a:solidFill>
                <a:srgbClr val="7A8B99"/>
              </a:solidFill>
              <a:ln>
                <a:solidFill>
                  <a:srgbClr val="7A8B99"/>
                </a:solidFill>
              </a:ln>
            </c:spPr>
          </c:marker>
          <c:xVal>
            <c:numRef>
              <c:f>Sheet1!$A$2:$A$4</c:f>
              <c:numCache>
                <c:formatCode>General</c:formatCode>
                <c:ptCount val="3"/>
                <c:pt idx="0">
                  <c:v>5.0</c:v>
                </c:pt>
                <c:pt idx="1">
                  <c:v>10.0</c:v>
                </c:pt>
                <c:pt idx="2">
                  <c:v>20.0</c:v>
                </c:pt>
              </c:numCache>
            </c:numRef>
          </c:xVal>
          <c:yVal>
            <c:numRef>
              <c:f>Sheet1!$B$2:$B$4</c:f>
              <c:numCache>
                <c:formatCode>General</c:formatCode>
                <c:ptCount val="3"/>
                <c:pt idx="0">
                  <c:v>0.9429372462034944</c:v>
                </c:pt>
                <c:pt idx="1">
                  <c:v>0.9068778190511572</c:v>
                </c:pt>
                <c:pt idx="2">
                  <c:v>0.8600373702528012</c:v>
                </c:pt>
              </c:numCache>
            </c:numRef>
          </c:yVal>
          <c:smooth val="0"/>
        </c:ser>
        <c:ser>
          <c:idx val="1"/>
          <c:order val="1"/>
          <c:tx>
            <c:strRef>
              <c:f>Sheet1!$B$6</c:f>
              <c:strCache>
                <c:ptCount val="1"/>
                <c:pt idx="0">
                  <c:v>Closeness</c:v>
                </c:pt>
              </c:strCache>
            </c:strRef>
          </c:tx>
          <c:spPr>
            <a:ln w="44450">
              <a:solidFill>
                <a:srgbClr val="5B8E7D"/>
              </a:solidFill>
            </a:ln>
          </c:spPr>
          <c:marker>
            <c:symbol val="circle"/>
            <c:size val="10"/>
            <c:spPr>
              <a:solidFill>
                <a:srgbClr val="5B8E7D"/>
              </a:solidFill>
              <a:ln>
                <a:solidFill>
                  <a:srgbClr val="5B8E7D"/>
                </a:solidFill>
              </a:ln>
            </c:spPr>
          </c:marker>
          <c:xVal>
            <c:numRef>
              <c:f>Sheet1!$A$7:$A$9</c:f>
              <c:numCache>
                <c:formatCode>General</c:formatCode>
                <c:ptCount val="3"/>
                <c:pt idx="0">
                  <c:v>5.0</c:v>
                </c:pt>
                <c:pt idx="1">
                  <c:v>10.0</c:v>
                </c:pt>
                <c:pt idx="2">
                  <c:v>20.0</c:v>
                </c:pt>
              </c:numCache>
            </c:numRef>
          </c:xVal>
          <c:yVal>
            <c:numRef>
              <c:f>Sheet1!$B$7:$B$9</c:f>
              <c:numCache>
                <c:formatCode>General</c:formatCode>
                <c:ptCount val="3"/>
                <c:pt idx="0">
                  <c:v>0.9551347438943952</c:v>
                </c:pt>
                <c:pt idx="1">
                  <c:v>0.9188853456557592</c:v>
                </c:pt>
                <c:pt idx="2">
                  <c:v>0.8624728054979092</c:v>
                </c:pt>
              </c:numCache>
            </c:numRef>
          </c:yVal>
          <c:smooth val="0"/>
        </c:ser>
        <c:ser>
          <c:idx val="2"/>
          <c:order val="2"/>
          <c:tx>
            <c:strRef>
              <c:f>Sheet1!$B$11</c:f>
              <c:strCache>
                <c:ptCount val="1"/>
                <c:pt idx="0">
                  <c:v>Random Forest (with PageRank input)</c:v>
                </c:pt>
              </c:strCache>
            </c:strRef>
          </c:tx>
          <c:spPr>
            <a:ln w="57150">
              <a:solidFill>
                <a:srgbClr val="F2C57C"/>
              </a:solidFill>
            </a:ln>
          </c:spPr>
          <c:marker>
            <c:symbol val="circle"/>
            <c:size val="10"/>
            <c:spPr>
              <a:solidFill>
                <a:srgbClr val="F2C57C"/>
              </a:solidFill>
              <a:ln>
                <a:solidFill>
                  <a:srgbClr val="F2C57C"/>
                </a:solidFill>
              </a:ln>
            </c:spPr>
          </c:marker>
          <c:xVal>
            <c:numRef>
              <c:f>Sheet1!$A$12:$A$14</c:f>
              <c:numCache>
                <c:formatCode>General</c:formatCode>
                <c:ptCount val="3"/>
                <c:pt idx="0">
                  <c:v>5.0</c:v>
                </c:pt>
                <c:pt idx="1">
                  <c:v>10.0</c:v>
                </c:pt>
                <c:pt idx="2">
                  <c:v>20.0</c:v>
                </c:pt>
              </c:numCache>
            </c:numRef>
          </c:xVal>
          <c:yVal>
            <c:numRef>
              <c:f>Sheet1!$B$12:$B$14</c:f>
              <c:numCache>
                <c:formatCode>General</c:formatCode>
                <c:ptCount val="3"/>
                <c:pt idx="0">
                  <c:v>0.8503688788371776</c:v>
                </c:pt>
                <c:pt idx="1">
                  <c:v>0.6996416960560766</c:v>
                </c:pt>
                <c:pt idx="2">
                  <c:v>0.5346212326473029</c:v>
                </c:pt>
              </c:numCache>
            </c:numRef>
          </c:yVal>
          <c:smooth val="0"/>
        </c:ser>
        <c:ser>
          <c:idx val="3"/>
          <c:order val="3"/>
          <c:tx>
            <c:strRef>
              <c:f>Sheet1!$B$16</c:f>
              <c:strCache>
                <c:ptCount val="1"/>
                <c:pt idx="0">
                  <c:v>PageRank</c:v>
                </c:pt>
              </c:strCache>
            </c:strRef>
          </c:tx>
          <c:spPr>
            <a:ln w="57150">
              <a:solidFill>
                <a:srgbClr val="B23A48"/>
              </a:solidFill>
            </a:ln>
          </c:spPr>
          <c:marker>
            <c:symbol val="circle"/>
            <c:size val="10"/>
            <c:spPr>
              <a:solidFill>
                <a:srgbClr val="B23A48"/>
              </a:solidFill>
              <a:ln>
                <a:solidFill>
                  <a:srgbClr val="B23A48"/>
                </a:solidFill>
              </a:ln>
            </c:spPr>
          </c:marker>
          <c:xVal>
            <c:numRef>
              <c:f>Sheet1!$A$17:$A$19</c:f>
              <c:numCache>
                <c:formatCode>General</c:formatCode>
                <c:ptCount val="3"/>
                <c:pt idx="0">
                  <c:v>5.0</c:v>
                </c:pt>
                <c:pt idx="1">
                  <c:v>10.0</c:v>
                </c:pt>
                <c:pt idx="2">
                  <c:v>20.0</c:v>
                </c:pt>
              </c:numCache>
            </c:numRef>
          </c:xVal>
          <c:yVal>
            <c:numRef>
              <c:f>Sheet1!$B$17:$B$19</c:f>
              <c:numCache>
                <c:formatCode>General</c:formatCode>
                <c:ptCount val="3"/>
                <c:pt idx="0">
                  <c:v>0.8755322098560809</c:v>
                </c:pt>
                <c:pt idx="1">
                  <c:v>0.7850189082725916</c:v>
                </c:pt>
                <c:pt idx="2">
                  <c:v>0.6667952398182645</c:v>
                </c:pt>
              </c:numCache>
            </c:numRef>
          </c:yVal>
          <c:smooth val="0"/>
        </c:ser>
        <c:ser>
          <c:idx val="4"/>
          <c:order val="4"/>
          <c:tx>
            <c:strRef>
              <c:f>Sheet1!$B$21</c:f>
              <c:strCache>
                <c:ptCount val="1"/>
                <c:pt idx="0">
                  <c:v>Random Forest (no PageRank input)</c:v>
                </c:pt>
              </c:strCache>
            </c:strRef>
          </c:tx>
          <c:spPr>
            <a:ln w="88900">
              <a:solidFill>
                <a:srgbClr val="D98E04"/>
              </a:solidFill>
            </a:ln>
          </c:spPr>
          <c:marker>
            <c:symbol val="circle"/>
            <c:size val="14"/>
            <c:spPr>
              <a:solidFill>
                <a:srgbClr val="D98E04"/>
              </a:solidFill>
              <a:ln>
                <a:solidFill>
                  <a:srgbClr val="D98E04"/>
                </a:solidFill>
              </a:ln>
            </c:spPr>
          </c:marker>
          <c:xVal>
            <c:numRef>
              <c:f>Sheet1!$A$22:$A$24</c:f>
              <c:numCache>
                <c:formatCode>General</c:formatCode>
                <c:ptCount val="3"/>
                <c:pt idx="0">
                  <c:v>5.0</c:v>
                </c:pt>
                <c:pt idx="1">
                  <c:v>10.0</c:v>
                </c:pt>
                <c:pt idx="2">
                  <c:v>20.0</c:v>
                </c:pt>
              </c:numCache>
            </c:numRef>
          </c:xVal>
          <c:yVal>
            <c:numRef>
              <c:f>Sheet1!$B$22:$B$24</c:f>
              <c:numCache>
                <c:formatCode>General</c:formatCode>
                <c:ptCount val="3"/>
                <c:pt idx="0">
                  <c:v>0.8664866743931994</c:v>
                </c:pt>
                <c:pt idx="1">
                  <c:v>0.7930478704700481</c:v>
                </c:pt>
                <c:pt idx="2">
                  <c:v>0.7159898119289402</c:v>
                </c:pt>
              </c:numCache>
            </c:numRef>
          </c:yVal>
          <c:smooth val="0"/>
        </c:ser>
        <c:axId val="-2128940872"/>
        <c:axId val="-2129643912"/>
      </c:scatterChart>
      <c:valAx>
        <c:axId val="-2128940872"/>
        <c:scaling>
          <c:orientation val="minMax"/>
          <c:max val="25.0"/>
          <c:min val="0.0"/>
        </c:scaling>
        <c:delete val="0"/>
        <c:axPos val="b"/>
        <c:numFmt formatCode="0&quot;%&quot;" sourceLinked="0"/>
        <c:majorTickMark val="out"/>
        <c:minorTickMark val="none"/>
        <c:tickLblPos val="nextTo"/>
        <c:spPr>
          <a:ln>
            <a:solidFill>
              <a:srgbClr val="C9D2D9"/>
            </a:solidFill>
          </a:ln>
        </c:spPr>
        <c:txPr>
          <a:bodyPr/>
          <a:lstStyle/>
          <a:p>
            <a:pPr>
              <a:defRPr sz="2200">
                <a:solidFill>
                  <a:srgbClr val="5B6770"/>
                </a:solidFill>
                <a:latin typeface="Calibri"/>
              </a:defRPr>
            </a:pPr>
          </a:p>
        </c:txPr>
        <c:crossAx val="-2129643912"/>
        <c:crosses val="autoZero"/>
        <c:crossBetween val="midCat"/>
        <c:majorUnit val="5.0"/>
      </c:valAx>
      <c:valAx>
        <c:axId val="-2129643912"/>
        <c:scaling>
          <c:orientation val="minMax"/>
          <c:max val="1.0"/>
          <c:min val="0.3"/>
        </c:scaling>
        <c:delete val="0"/>
        <c:axPos val="l"/>
        <c:majorGridlines>
          <c:spPr>
            <a:ln>
              <a:solidFill>
                <a:srgbClr val="C9D2D9"/>
              </a:solidFill>
            </a:ln>
          </c:spPr>
        </c:majorGridlines>
        <c:numFmt formatCode="0.0" sourceLinked="0"/>
        <c:majorTickMark val="out"/>
        <c:minorTickMark val="none"/>
        <c:tickLblPos val="nextTo"/>
        <c:spPr>
          <a:ln>
            <a:solidFill>
              <a:srgbClr val="C9D2D9"/>
            </a:solidFill>
          </a:ln>
        </c:spPr>
        <c:txPr>
          <a:bodyPr/>
          <a:lstStyle/>
          <a:p>
            <a:pPr>
              <a:defRPr sz="2200">
                <a:solidFill>
                  <a:srgbClr val="5B6770"/>
                </a:solidFill>
                <a:latin typeface="Calibri"/>
              </a:defRPr>
            </a:pPr>
          </a:p>
        </c:txPr>
        <c:crossAx val="-2128940872"/>
        <c:crosses val="autoZero"/>
        <c:crossBetween val="midCat"/>
        <c:majorUnit val="0.1"/>
      </c:valAx>
    </c:plotArea>
    <c:plotVisOnly val="1"/>
    <c:dispBlanksAs val="gap"/>
    <c:showDLblsOverMax val="0"/>
  </c:chart>
  <c:txPr>
    <a:bodyPr/>
    <a:lstStyle/>
    <a:p>
      <a:pPr>
        <a:defRPr sz="2200">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chart>
    <c:title>
      <c:tx>
        <c:rich>
          <a:bodyPr/>
          <a:lstStyle/>
          <a:p>
            <a:r>
              <a:rPr sz="2600" b="1">
                <a:solidFill>
                  <a:srgbClr val="13293D"/>
                </a:solidFill>
              </a:rPr>
              <a:t>Citations added at random</a:t>
            </a:r>
          </a:p>
        </c:rich>
      </c:tx>
      <c:layout/>
      <c:overlay val="0"/>
    </c:title>
    <c:plotArea>
      <c:scatterChart>
        <c:scatterStyle val="lineMarker"/>
        <c:varyColors val="0"/>
        <c:ser>
          <c:idx val="0"/>
          <c:order val="0"/>
          <c:tx>
            <c:strRef>
              <c:f>Sheet1!$B$1</c:f>
              <c:strCache>
                <c:ptCount val="1"/>
                <c:pt idx="0">
                  <c:v>Degree</c:v>
                </c:pt>
              </c:strCache>
            </c:strRef>
          </c:tx>
          <c:spPr>
            <a:ln w="44450">
              <a:solidFill>
                <a:srgbClr val="7A8B99"/>
              </a:solidFill>
            </a:ln>
          </c:spPr>
          <c:marker>
            <c:symbol val="circle"/>
            <c:size val="10"/>
            <c:spPr>
              <a:solidFill>
                <a:srgbClr val="7A8B99"/>
              </a:solidFill>
              <a:ln>
                <a:solidFill>
                  <a:srgbClr val="7A8B99"/>
                </a:solidFill>
              </a:ln>
            </c:spPr>
          </c:marker>
          <c:xVal>
            <c:numRef>
              <c:f>Sheet1!$A$2:$A$4</c:f>
              <c:numCache>
                <c:formatCode>General</c:formatCode>
                <c:ptCount val="3"/>
                <c:pt idx="0">
                  <c:v>5.0</c:v>
                </c:pt>
                <c:pt idx="1">
                  <c:v>10.0</c:v>
                </c:pt>
                <c:pt idx="2">
                  <c:v>20.0</c:v>
                </c:pt>
              </c:numCache>
            </c:numRef>
          </c:xVal>
          <c:yVal>
            <c:numRef>
              <c:f>Sheet1!$B$2:$B$4</c:f>
              <c:numCache>
                <c:formatCode>General</c:formatCode>
                <c:ptCount val="3"/>
                <c:pt idx="0">
                  <c:v>0.943015148331404</c:v>
                </c:pt>
                <c:pt idx="1">
                  <c:v>0.9067432082752792</c:v>
                </c:pt>
                <c:pt idx="2">
                  <c:v>0.8603701218409546</c:v>
                </c:pt>
              </c:numCache>
            </c:numRef>
          </c:yVal>
          <c:smooth val="0"/>
        </c:ser>
        <c:ser>
          <c:idx val="1"/>
          <c:order val="1"/>
          <c:tx>
            <c:strRef>
              <c:f>Sheet1!$B$6</c:f>
              <c:strCache>
                <c:ptCount val="1"/>
                <c:pt idx="0">
                  <c:v>Closeness</c:v>
                </c:pt>
              </c:strCache>
            </c:strRef>
          </c:tx>
          <c:spPr>
            <a:ln w="44450">
              <a:solidFill>
                <a:srgbClr val="5B8E7D"/>
              </a:solidFill>
            </a:ln>
          </c:spPr>
          <c:marker>
            <c:symbol val="circle"/>
            <c:size val="10"/>
            <c:spPr>
              <a:solidFill>
                <a:srgbClr val="5B8E7D"/>
              </a:solidFill>
              <a:ln>
                <a:solidFill>
                  <a:srgbClr val="5B8E7D"/>
                </a:solidFill>
              </a:ln>
            </c:spPr>
          </c:marker>
          <c:xVal>
            <c:numRef>
              <c:f>Sheet1!$A$7:$A$9</c:f>
              <c:numCache>
                <c:formatCode>General</c:formatCode>
                <c:ptCount val="3"/>
                <c:pt idx="0">
                  <c:v>5.0</c:v>
                </c:pt>
                <c:pt idx="1">
                  <c:v>10.0</c:v>
                </c:pt>
                <c:pt idx="2">
                  <c:v>20.0</c:v>
                </c:pt>
              </c:numCache>
            </c:numRef>
          </c:xVal>
          <c:yVal>
            <c:numRef>
              <c:f>Sheet1!$B$7:$B$9</c:f>
              <c:numCache>
                <c:formatCode>General</c:formatCode>
                <c:ptCount val="3"/>
                <c:pt idx="0">
                  <c:v>0.8808515409500981</c:v>
                </c:pt>
                <c:pt idx="1">
                  <c:v>0.7839524991553364</c:v>
                </c:pt>
                <c:pt idx="2">
                  <c:v>0.6681894860301957</c:v>
                </c:pt>
              </c:numCache>
            </c:numRef>
          </c:yVal>
          <c:smooth val="0"/>
        </c:ser>
        <c:ser>
          <c:idx val="2"/>
          <c:order val="2"/>
          <c:tx>
            <c:strRef>
              <c:f>Sheet1!$B$11</c:f>
              <c:strCache>
                <c:ptCount val="1"/>
                <c:pt idx="0">
                  <c:v>Random Forest (with PageRank input)</c:v>
                </c:pt>
              </c:strCache>
            </c:strRef>
          </c:tx>
          <c:spPr>
            <a:ln w="57150">
              <a:solidFill>
                <a:srgbClr val="F2C57C"/>
              </a:solidFill>
            </a:ln>
          </c:spPr>
          <c:marker>
            <c:symbol val="circle"/>
            <c:size val="10"/>
            <c:spPr>
              <a:solidFill>
                <a:srgbClr val="F2C57C"/>
              </a:solidFill>
              <a:ln>
                <a:solidFill>
                  <a:srgbClr val="F2C57C"/>
                </a:solidFill>
              </a:ln>
            </c:spPr>
          </c:marker>
          <c:xVal>
            <c:numRef>
              <c:f>Sheet1!$A$12:$A$14</c:f>
              <c:numCache>
                <c:formatCode>General</c:formatCode>
                <c:ptCount val="3"/>
                <c:pt idx="0">
                  <c:v>5.0</c:v>
                </c:pt>
                <c:pt idx="1">
                  <c:v>10.0</c:v>
                </c:pt>
                <c:pt idx="2">
                  <c:v>20.0</c:v>
                </c:pt>
              </c:numCache>
            </c:numRef>
          </c:xVal>
          <c:yVal>
            <c:numRef>
              <c:f>Sheet1!$B$12:$B$14</c:f>
              <c:numCache>
                <c:formatCode>General</c:formatCode>
                <c:ptCount val="3"/>
                <c:pt idx="0">
                  <c:v>0.7929978502777287</c:v>
                </c:pt>
                <c:pt idx="1">
                  <c:v>0.5999336315203803</c:v>
                </c:pt>
                <c:pt idx="2">
                  <c:v>0.3885067788898628</c:v>
                </c:pt>
              </c:numCache>
            </c:numRef>
          </c:yVal>
          <c:smooth val="0"/>
        </c:ser>
        <c:ser>
          <c:idx val="3"/>
          <c:order val="3"/>
          <c:tx>
            <c:strRef>
              <c:f>Sheet1!$B$16</c:f>
              <c:strCache>
                <c:ptCount val="1"/>
                <c:pt idx="0">
                  <c:v>PageRank</c:v>
                </c:pt>
              </c:strCache>
            </c:strRef>
          </c:tx>
          <c:spPr>
            <a:ln w="57150">
              <a:solidFill>
                <a:srgbClr val="B23A48"/>
              </a:solidFill>
            </a:ln>
          </c:spPr>
          <c:marker>
            <c:symbol val="circle"/>
            <c:size val="10"/>
            <c:spPr>
              <a:solidFill>
                <a:srgbClr val="B23A48"/>
              </a:solidFill>
              <a:ln>
                <a:solidFill>
                  <a:srgbClr val="B23A48"/>
                </a:solidFill>
              </a:ln>
            </c:spPr>
          </c:marker>
          <c:xVal>
            <c:numRef>
              <c:f>Sheet1!$A$17:$A$19</c:f>
              <c:numCache>
                <c:formatCode>General</c:formatCode>
                <c:ptCount val="3"/>
                <c:pt idx="0">
                  <c:v>5.0</c:v>
                </c:pt>
                <c:pt idx="1">
                  <c:v>10.0</c:v>
                </c:pt>
                <c:pt idx="2">
                  <c:v>20.0</c:v>
                </c:pt>
              </c:numCache>
            </c:numRef>
          </c:xVal>
          <c:yVal>
            <c:numRef>
              <c:f>Sheet1!$B$17:$B$19</c:f>
              <c:numCache>
                <c:formatCode>General</c:formatCode>
                <c:ptCount val="3"/>
                <c:pt idx="0">
                  <c:v>0.8299951803845601</c:v>
                </c:pt>
                <c:pt idx="1">
                  <c:v>0.702723531537981</c:v>
                </c:pt>
                <c:pt idx="2">
                  <c:v>0.5247594206302119</c:v>
                </c:pt>
              </c:numCache>
            </c:numRef>
          </c:yVal>
          <c:smooth val="0"/>
        </c:ser>
        <c:ser>
          <c:idx val="4"/>
          <c:order val="4"/>
          <c:tx>
            <c:strRef>
              <c:f>Sheet1!$B$21</c:f>
              <c:strCache>
                <c:ptCount val="1"/>
                <c:pt idx="0">
                  <c:v>Random Forest (no PageRank input)</c:v>
                </c:pt>
              </c:strCache>
            </c:strRef>
          </c:tx>
          <c:spPr>
            <a:ln w="88900">
              <a:solidFill>
                <a:srgbClr val="D98E04"/>
              </a:solidFill>
            </a:ln>
          </c:spPr>
          <c:marker>
            <c:symbol val="circle"/>
            <c:size val="14"/>
            <c:spPr>
              <a:solidFill>
                <a:srgbClr val="D98E04"/>
              </a:solidFill>
              <a:ln>
                <a:solidFill>
                  <a:srgbClr val="D98E04"/>
                </a:solidFill>
              </a:ln>
            </c:spPr>
          </c:marker>
          <c:xVal>
            <c:numRef>
              <c:f>Sheet1!$A$22:$A$24</c:f>
              <c:numCache>
                <c:formatCode>General</c:formatCode>
                <c:ptCount val="3"/>
                <c:pt idx="0">
                  <c:v>5.0</c:v>
                </c:pt>
                <c:pt idx="1">
                  <c:v>10.0</c:v>
                </c:pt>
                <c:pt idx="2">
                  <c:v>20.0</c:v>
                </c:pt>
              </c:numCache>
            </c:numRef>
          </c:xVal>
          <c:yVal>
            <c:numRef>
              <c:f>Sheet1!$B$22:$B$24</c:f>
              <c:numCache>
                <c:formatCode>General</c:formatCode>
                <c:ptCount val="3"/>
                <c:pt idx="0">
                  <c:v>0.8220057797910442</c:v>
                </c:pt>
                <c:pt idx="1">
                  <c:v>0.700571213947149</c:v>
                </c:pt>
                <c:pt idx="2">
                  <c:v>0.5772341928146097</c:v>
                </c:pt>
              </c:numCache>
            </c:numRef>
          </c:yVal>
          <c:smooth val="0"/>
        </c:ser>
        <c:axId val="-2128940872"/>
        <c:axId val="-2129643912"/>
      </c:scatterChart>
      <c:valAx>
        <c:axId val="-2128940872"/>
        <c:scaling>
          <c:orientation val="minMax"/>
          <c:max val="25.0"/>
          <c:min val="0.0"/>
        </c:scaling>
        <c:delete val="0"/>
        <c:axPos val="b"/>
        <c:numFmt formatCode="0&quot;%&quot;" sourceLinked="0"/>
        <c:majorTickMark val="out"/>
        <c:minorTickMark val="none"/>
        <c:tickLblPos val="nextTo"/>
        <c:spPr>
          <a:ln>
            <a:solidFill>
              <a:srgbClr val="C9D2D9"/>
            </a:solidFill>
          </a:ln>
        </c:spPr>
        <c:txPr>
          <a:bodyPr/>
          <a:lstStyle/>
          <a:p>
            <a:pPr>
              <a:defRPr sz="2200">
                <a:solidFill>
                  <a:srgbClr val="5B6770"/>
                </a:solidFill>
                <a:latin typeface="Calibri"/>
              </a:defRPr>
            </a:pPr>
          </a:p>
        </c:txPr>
        <c:crossAx val="-2129643912"/>
        <c:crosses val="autoZero"/>
        <c:crossBetween val="midCat"/>
        <c:majorUnit val="5.0"/>
      </c:valAx>
      <c:valAx>
        <c:axId val="-2129643912"/>
        <c:scaling>
          <c:orientation val="minMax"/>
          <c:max val="1.0"/>
          <c:min val="0.3"/>
        </c:scaling>
        <c:delete val="0"/>
        <c:axPos val="l"/>
        <c:majorGridlines>
          <c:spPr>
            <a:ln>
              <a:solidFill>
                <a:srgbClr val="C9D2D9"/>
              </a:solidFill>
            </a:ln>
          </c:spPr>
        </c:majorGridlines>
        <c:numFmt formatCode="0.0" sourceLinked="0"/>
        <c:majorTickMark val="out"/>
        <c:minorTickMark val="none"/>
        <c:tickLblPos val="nextTo"/>
        <c:spPr>
          <a:ln>
            <a:solidFill>
              <a:srgbClr val="C9D2D9"/>
            </a:solidFill>
          </a:ln>
        </c:spPr>
        <c:txPr>
          <a:bodyPr/>
          <a:lstStyle/>
          <a:p>
            <a:pPr>
              <a:defRPr sz="2200">
                <a:solidFill>
                  <a:srgbClr val="5B6770"/>
                </a:solidFill>
                <a:latin typeface="Calibri"/>
              </a:defRPr>
            </a:pPr>
          </a:p>
        </c:txPr>
        <c:crossAx val="-2128940872"/>
        <c:crosses val="autoZero"/>
        <c:crossBetween val="midCat"/>
        <c:majorUnit val="0.1"/>
      </c:valAx>
    </c:plotArea>
    <c:plotVisOnly val="1"/>
    <c:dispBlanksAs val="gap"/>
    <c:showDLblsOverMax val="0"/>
  </c:chart>
  <c:txPr>
    <a:bodyPr/>
    <a:lstStyle/>
    <a:p>
      <a:pPr>
        <a:defRPr sz="2200">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Random Forest (no PageRank input)</c:v>
                </c:pt>
              </c:strCache>
            </c:strRef>
          </c:tx>
          <c:spPr>
            <a:solidFill>
              <a:srgbClr val="D98E04"/>
            </a:solidFill>
            <a:ln>
              <a:noFill/>
            </a:ln>
          </c:spPr>
          <c:cat>
            <c:strRef>
              <c:f>Sheet1!$A$2:$A$4</c:f>
              <c:strCache>
                <c:ptCount val="3"/>
                <c:pt idx="0">
                  <c:v>Removed</c:v>
                </c:pt>
                <c:pt idx="1">
                  <c:v>Added, newer → older</c:v>
                </c:pt>
                <c:pt idx="2">
                  <c:v>Added at random</c:v>
                </c:pt>
              </c:strCache>
            </c:strRef>
          </c:cat>
          <c:val>
            <c:numRef>
              <c:f>Sheet1!$B$2:$B$4</c:f>
              <c:numCache>
                <c:formatCode>General</c:formatCode>
                <c:ptCount val="3"/>
                <c:pt idx="0">
                  <c:v>0.7846440047353289</c:v>
                </c:pt>
                <c:pt idx="1">
                  <c:v>0.6117030272281413</c:v>
                </c:pt>
                <c:pt idx="2">
                  <c:v>0.5144934889227127</c:v>
                </c:pt>
              </c:numCache>
            </c:numRef>
          </c:val>
        </c:ser>
        <c:ser>
          <c:idx val="1"/>
          <c:order val="1"/>
          <c:tx>
            <c:strRef>
              <c:f>Sheet1!$C$1</c:f>
              <c:strCache>
                <c:ptCount val="1"/>
                <c:pt idx="0">
                  <c:v>Random Forest (with PageRank input)</c:v>
                </c:pt>
              </c:strCache>
            </c:strRef>
          </c:tx>
          <c:spPr>
            <a:solidFill>
              <a:srgbClr val="F2C57C"/>
            </a:solidFill>
            <a:ln>
              <a:noFill/>
            </a:ln>
          </c:spPr>
          <c:cat>
            <c:strRef>
              <c:f>Sheet1!$A$2:$A$4</c:f>
              <c:strCache>
                <c:ptCount val="3"/>
                <c:pt idx="0">
                  <c:v>Removed</c:v>
                </c:pt>
                <c:pt idx="1">
                  <c:v>Added, newer → older</c:v>
                </c:pt>
                <c:pt idx="2">
                  <c:v>Added at random</c:v>
                </c:pt>
              </c:strCache>
            </c:strRef>
          </c:cat>
          <c:val>
            <c:numRef>
              <c:f>Sheet1!$C$2:$C$4</c:f>
              <c:numCache>
                <c:formatCode>General</c:formatCode>
                <c:ptCount val="3"/>
                <c:pt idx="0">
                  <c:v>0.8451209200067648</c:v>
                </c:pt>
                <c:pt idx="1">
                  <c:v>0.4200067647556231</c:v>
                </c:pt>
                <c:pt idx="2">
                  <c:v>0.3049720953830543</c:v>
                </c:pt>
              </c:numCache>
            </c:numRef>
          </c:val>
        </c:ser>
        <c:ser>
          <c:idx val="2"/>
          <c:order val="2"/>
          <c:tx>
            <c:strRef>
              <c:f>Sheet1!$D$1</c:f>
              <c:strCache>
                <c:ptCount val="1"/>
                <c:pt idx="0">
                  <c:v>PageRank</c:v>
                </c:pt>
              </c:strCache>
            </c:strRef>
          </c:tx>
          <c:spPr>
            <a:solidFill>
              <a:srgbClr val="B23A48"/>
            </a:solidFill>
            <a:ln>
              <a:noFill/>
            </a:ln>
          </c:spPr>
          <c:cat>
            <c:strRef>
              <c:f>Sheet1!$A$2:$A$4</c:f>
              <c:strCache>
                <c:ptCount val="3"/>
                <c:pt idx="0">
                  <c:v>Removed</c:v>
                </c:pt>
                <c:pt idx="1">
                  <c:v>Added, newer → older</c:v>
                </c:pt>
                <c:pt idx="2">
                  <c:v>Added at random</c:v>
                </c:pt>
              </c:strCache>
            </c:strRef>
          </c:cat>
          <c:val>
            <c:numRef>
              <c:f>Sheet1!$D$2:$D$4</c:f>
              <c:numCache>
                <c:formatCode>General</c:formatCode>
                <c:ptCount val="3"/>
                <c:pt idx="0">
                  <c:v>0.8451378318958229</c:v>
                </c:pt>
                <c:pt idx="1">
                  <c:v>0.4199898528665651</c:v>
                </c:pt>
                <c:pt idx="2">
                  <c:v>0.3049551834939963</c:v>
                </c:pt>
              </c:numCache>
            </c:numRef>
          </c:val>
        </c:ser>
        <c:ser>
          <c:idx val="3"/>
          <c:order val="3"/>
          <c:tx>
            <c:strRef>
              <c:f>Sheet1!$E$1</c:f>
              <c:strCache>
                <c:ptCount val="1"/>
                <c:pt idx="0">
                  <c:v>Closeness</c:v>
                </c:pt>
              </c:strCache>
            </c:strRef>
          </c:tx>
          <c:spPr>
            <a:solidFill>
              <a:srgbClr val="5B8E7D"/>
            </a:solidFill>
            <a:ln>
              <a:noFill/>
            </a:ln>
          </c:spPr>
          <c:cat>
            <c:strRef>
              <c:f>Sheet1!$A$2:$A$4</c:f>
              <c:strCache>
                <c:ptCount val="3"/>
                <c:pt idx="0">
                  <c:v>Removed</c:v>
                </c:pt>
                <c:pt idx="1">
                  <c:v>Added, newer → older</c:v>
                </c:pt>
                <c:pt idx="2">
                  <c:v>Added at random</c:v>
                </c:pt>
              </c:strCache>
            </c:strRef>
          </c:cat>
          <c:val>
            <c:numRef>
              <c:f>Sheet1!$E$2:$E$4</c:f>
              <c:numCache>
                <c:formatCode>General</c:formatCode>
                <c:ptCount val="3"/>
                <c:pt idx="0">
                  <c:v>0.8514121427363436</c:v>
                </c:pt>
                <c:pt idx="1">
                  <c:v>0.8656012176560122</c:v>
                </c:pt>
                <c:pt idx="2">
                  <c:v>0.6716556739387789</c:v>
                </c:pt>
              </c:numCache>
            </c:numRef>
          </c:val>
        </c:ser>
        <c:ser>
          <c:idx val="4"/>
          <c:order val="4"/>
          <c:tx>
            <c:strRef>
              <c:f>Sheet1!$F$1</c:f>
              <c:strCache>
                <c:ptCount val="1"/>
                <c:pt idx="0">
                  <c:v>Degree</c:v>
                </c:pt>
              </c:strCache>
            </c:strRef>
          </c:tx>
          <c:spPr>
            <a:solidFill>
              <a:srgbClr val="7A8B99"/>
            </a:solidFill>
            <a:ln>
              <a:noFill/>
            </a:ln>
          </c:spPr>
          <c:cat>
            <c:strRef>
              <c:f>Sheet1!$A$2:$A$4</c:f>
              <c:strCache>
                <c:ptCount val="3"/>
                <c:pt idx="0">
                  <c:v>Removed</c:v>
                </c:pt>
                <c:pt idx="1">
                  <c:v>Added, newer → older</c:v>
                </c:pt>
                <c:pt idx="2">
                  <c:v>Added at random</c:v>
                </c:pt>
              </c:strCache>
            </c:strRef>
          </c:cat>
          <c:val>
            <c:numRef>
              <c:f>Sheet1!$F$2:$F$4</c:f>
              <c:numCache>
                <c:formatCode>General</c:formatCode>
                <c:ptCount val="3"/>
                <c:pt idx="0">
                  <c:v>0.9531517094017092</c:v>
                </c:pt>
                <c:pt idx="1">
                  <c:v>0.9687321937321938</c:v>
                </c:pt>
                <c:pt idx="2">
                  <c:v>0.980715811965812</c:v>
                </c:pt>
              </c:numCache>
            </c:numRef>
          </c:val>
        </c:ser>
        <c:dLbls>
          <c:numFmt formatCode="0%" sourceLinked="0"/>
          <c:txPr>
            <a:bodyPr/>
            <a:lstStyle/>
            <a:p>
              <a:pPr>
                <a:defRPr sz="1700">
                  <a:solidFill>
                    <a:srgbClr val="1F2A33"/>
                  </a:solidFill>
                </a:defRPr>
              </a:pPr>
            </a:p>
          </c:txPr>
          <c:dLblPos val="outEnd"/>
          <c:showLegendKey val="0"/>
          <c:showVal val="1"/>
          <c:showCatName val="0"/>
          <c:showSerName val="0"/>
          <c:showPercent val="0"/>
          <c:showBubbleSize val="0"/>
          <c:showLeaderLines val="1"/>
        </c:dLbls>
        <c:gapWidth val="55"/>
        <c:overlap val="-5"/>
        <c:axId val="-2068027336"/>
        <c:axId val="-2113994440"/>
      </c:barChart>
      <c:catAx>
        <c:axId val="-2068027336"/>
        <c:scaling>
          <c:orientation val="minMax"/>
        </c:scaling>
        <c:delete val="0"/>
        <c:axPos val="b"/>
        <c:majorTickMark val="out"/>
        <c:minorTickMark val="none"/>
        <c:tickLblPos val="nextTo"/>
        <c:spPr>
          <a:ln>
            <a:solidFill>
              <a:srgbClr val="C9D2D9"/>
            </a:solidFill>
          </a:ln>
        </c:spPr>
        <c:txPr>
          <a:bodyPr/>
          <a:lstStyle/>
          <a:p>
            <a:pPr>
              <a:defRPr sz="2300">
                <a:solidFill>
                  <a:srgbClr val="5B6770"/>
                </a:solidFill>
                <a:latin typeface="Calibri"/>
              </a:defRPr>
            </a:pPr>
          </a:p>
        </c:txPr>
        <c:crossAx val="-2113994440"/>
        <c:crosses val="autoZero"/>
        <c:auto val="1"/>
        <c:lblAlgn val="ctr"/>
        <c:lblOffset val="100"/>
        <c:noMultiLvlLbl val="0"/>
      </c:catAx>
      <c:valAx>
        <c:axId val="-2113994440"/>
        <c:scaling>
          <c:max val="1.0"/>
          <c:min val="0.0"/>
        </c:scaling>
        <c:delete val="0"/>
        <c:axPos val="l"/>
        <c:majorGridlines>
          <c:spPr>
            <a:ln>
              <a:solidFill>
                <a:srgbClr val="C9D2D9"/>
              </a:solidFill>
            </a:ln>
          </c:spPr>
        </c:majorGridlines>
        <c:numFmt formatCode="0%" sourceLinked="0"/>
        <c:majorTickMark val="out"/>
        <c:minorTickMark val="none"/>
        <c:tickLblPos val="nextTo"/>
        <c:spPr>
          <a:ln>
            <a:solidFill>
              <a:srgbClr val="C9D2D9"/>
            </a:solidFill>
          </a:ln>
        </c:spPr>
        <c:txPr>
          <a:bodyPr/>
          <a:lstStyle/>
          <a:p>
            <a:pPr>
              <a:defRPr sz="2200">
                <a:solidFill>
                  <a:srgbClr val="5B6770"/>
                </a:solidFill>
                <a:latin typeface="Calibri"/>
              </a:defRPr>
            </a:pPr>
          </a:p>
        </c:txPr>
        <c:crossAx val="-2068027336"/>
        <c:crosses val="autoZero"/>
        <c:majorUnit val="0.25"/>
      </c:valAx>
    </c:plotArea>
    <c:dispBlanksAs val="gap"/>
  </c:chart>
  <c:txPr>
    <a:bodyPr/>
    <a:lstStyle/>
    <a:p>
      <a:pPr>
        <a:defRPr sz="2200">
          <a:latin typeface="Calibri"/>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chart" Target="../charts/chart3.xml"/><Relationship Id="rId6" Type="http://schemas.openxmlformats.org/officeDocument/2006/relationships/chart" Target="../charts/chart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eader"/>
          <p:cNvSpPr/>
          <p:nvPr/>
        </p:nvSpPr>
        <p:spPr>
          <a:xfrm>
            <a:off x="0" y="0"/>
            <a:ext cx="30276000" cy="5120640"/>
          </a:xfrm>
          <a:prstGeom prst="rect">
            <a:avLst/>
          </a:prstGeom>
          <a:solidFill>
            <a:srgbClr val="1329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itle"/>
          <p:cNvSpPr txBox="1"/>
          <p:nvPr/>
        </p:nvSpPr>
        <p:spPr>
          <a:xfrm>
            <a:off x="1097280" y="685800"/>
            <a:ext cx="23225760" cy="2743200"/>
          </a:xfrm>
          <a:prstGeom prst="rect">
            <a:avLst/>
          </a:prstGeom>
          <a:noFill/>
        </p:spPr>
        <p:txBody>
          <a:bodyPr wrap="square" lIns="0" rIns="0" tIns="0" bIns="0" anchor="t">
            <a:spAutoFit/>
          </a:bodyPr>
          <a:lstStyle/>
          <a:p>
            <a:pPr algn="l">
              <a:lnSpc>
                <a:spcPct val="95000"/>
              </a:lnSpc>
              <a:spcAft>
                <a:spcPts val="0"/>
              </a:spcAft>
            </a:pPr>
            <a:r>
              <a:rPr sz="8800" b="1" i="0">
                <a:solidFill>
                  <a:srgbClr val="FFFFFF"/>
                </a:solidFill>
                <a:latin typeface="Cambria"/>
              </a:rPr>
              <a:t>Stability and Structural Validity of Learned Node Importance in Citation Networks</a:t>
            </a:r>
          </a:p>
        </p:txBody>
      </p:sp>
      <p:sp>
        <p:nvSpPr>
          <p:cNvPr id="4" name="authors"/>
          <p:cNvSpPr txBox="1"/>
          <p:nvPr/>
        </p:nvSpPr>
        <p:spPr>
          <a:xfrm>
            <a:off x="1097280" y="3474720"/>
            <a:ext cx="23225760" cy="1371600"/>
          </a:xfrm>
          <a:prstGeom prst="rect">
            <a:avLst/>
          </a:prstGeom>
          <a:noFill/>
        </p:spPr>
        <p:txBody>
          <a:bodyPr wrap="square" lIns="0" rIns="0" tIns="0" bIns="0" anchor="t">
            <a:spAutoFit/>
          </a:bodyPr>
          <a:lstStyle/>
          <a:p>
            <a:pPr algn="l">
              <a:lnSpc>
                <a:spcPct val="105000"/>
              </a:lnSpc>
              <a:spcAft>
                <a:spcPts val="600"/>
              </a:spcAft>
            </a:pPr>
            <a:r>
              <a:rPr sz="3400" b="1" i="0">
                <a:solidFill>
                  <a:srgbClr val="FFFFFF"/>
                </a:solidFill>
                <a:latin typeface="Calibri"/>
              </a:rPr>
              <a:t>Niran Czuckermann  ·  Shahar Bar</a:t>
            </a:r>
            <a:r>
              <a:rPr sz="3400" b="0" i="0">
                <a:solidFill>
                  <a:srgbClr val="CADCE8"/>
                </a:solidFill>
                <a:latin typeface="Calibri"/>
              </a:rPr>
              <a:t>      Advisor: Dr. Dvora Toledano-Kitai</a:t>
            </a:r>
          </a:p>
          <a:p>
            <a:pPr algn="l">
              <a:lnSpc>
                <a:spcPct val="105000"/>
              </a:lnSpc>
              <a:spcAft>
                <a:spcPts val="0"/>
              </a:spcAft>
            </a:pPr>
            <a:r>
              <a:rPr sz="2800" b="0" i="0">
                <a:solidFill>
                  <a:srgbClr val="CADCE8"/>
                </a:solidFill>
                <a:latin typeface="Calibri"/>
              </a:rPr>
              <a:t>Software Engineering Department, Braude College of Engineering  ·  Final Project 26-2-R-2</a:t>
            </a:r>
          </a:p>
        </p:txBody>
      </p:sp>
      <p:sp>
        <p:nvSpPr>
          <p:cNvPr id="5" name="qr frame"/>
          <p:cNvSpPr/>
          <p:nvPr/>
        </p:nvSpPr>
        <p:spPr>
          <a:xfrm>
            <a:off x="25612560" y="457200"/>
            <a:ext cx="3749040" cy="37490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qr_github.png"/>
          <p:cNvPicPr>
            <a:picLocks noChangeAspect="1"/>
          </p:cNvPicPr>
          <p:nvPr/>
        </p:nvPicPr>
        <p:blipFill>
          <a:blip r:embed="rId2"/>
          <a:stretch>
            <a:fillRect/>
          </a:stretch>
        </p:blipFill>
        <p:spPr>
          <a:xfrm>
            <a:off x="25795440" y="640080"/>
            <a:ext cx="3383280" cy="3383280"/>
          </a:xfrm>
          <a:prstGeom prst="rect">
            <a:avLst/>
          </a:prstGeom>
        </p:spPr>
      </p:pic>
      <p:sp>
        <p:nvSpPr>
          <p:cNvPr id="7" name="qr caption"/>
          <p:cNvSpPr txBox="1"/>
          <p:nvPr/>
        </p:nvSpPr>
        <p:spPr>
          <a:xfrm>
            <a:off x="25246800" y="4343400"/>
            <a:ext cx="4480560" cy="548640"/>
          </a:xfrm>
          <a:prstGeom prst="rect">
            <a:avLst/>
          </a:prstGeom>
          <a:noFill/>
        </p:spPr>
        <p:txBody>
          <a:bodyPr wrap="square" lIns="0" rIns="0" tIns="0" bIns="0" anchor="t">
            <a:spAutoFit/>
          </a:bodyPr>
          <a:lstStyle/>
          <a:p>
            <a:pPr algn="ctr">
              <a:lnSpc>
                <a:spcPct val="105000"/>
              </a:lnSpc>
              <a:spcAft>
                <a:spcPts val="0"/>
              </a:spcAft>
            </a:pPr>
            <a:r>
              <a:rPr sz="2400" b="1" i="0">
                <a:solidFill>
                  <a:srgbClr val="FFFFFF"/>
                </a:solidFill>
                <a:latin typeface="Calibri"/>
              </a:rPr>
              <a:t>Code, data &amp; live demo</a:t>
            </a:r>
          </a:p>
        </p:txBody>
      </p:sp>
      <p:sp>
        <p:nvSpPr>
          <p:cNvPr id="8" name="key finding panel"/>
          <p:cNvSpPr/>
          <p:nvPr/>
        </p:nvSpPr>
        <p:spPr>
          <a:xfrm>
            <a:off x="1097280" y="5577840"/>
            <a:ext cx="28081440" cy="3840480"/>
          </a:xfrm>
          <a:prstGeom prst="roundRect">
            <a:avLst>
              <a:gd name="adj" fmla="val 6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ey finding"/>
          <p:cNvSpPr txBox="1"/>
          <p:nvPr/>
        </p:nvSpPr>
        <p:spPr>
          <a:xfrm>
            <a:off x="1645920" y="6126480"/>
            <a:ext cx="10607040" cy="2743200"/>
          </a:xfrm>
          <a:prstGeom prst="rect">
            <a:avLst/>
          </a:prstGeom>
          <a:noFill/>
        </p:spPr>
        <p:txBody>
          <a:bodyPr wrap="square" lIns="0" rIns="0" tIns="0" bIns="0" anchor="ctr">
            <a:spAutoFit/>
          </a:bodyPr>
          <a:lstStyle/>
          <a:p>
            <a:pPr algn="l">
              <a:lnSpc>
                <a:spcPct val="105000"/>
              </a:lnSpc>
              <a:spcAft>
                <a:spcPts val="1000"/>
              </a:spcAft>
            </a:pPr>
            <a:r>
              <a:rPr sz="2600" b="1" i="0">
                <a:solidFill>
                  <a:srgbClr val="D98E04"/>
                </a:solidFill>
                <a:latin typeface="Calibri"/>
              </a:rPr>
              <a:t>KEY FINDING</a:t>
            </a:r>
          </a:p>
          <a:p>
            <a:pPr algn="l">
              <a:lnSpc>
                <a:spcPct val="100000"/>
              </a:lnSpc>
              <a:spcAft>
                <a:spcPts val="0"/>
              </a:spcAft>
            </a:pPr>
            <a:r>
              <a:rPr sz="3400" b="0" i="0">
                <a:solidFill>
                  <a:srgbClr val="13293D"/>
                </a:solidFill>
                <a:latin typeface="Calibri"/>
              </a:rPr>
              <a:t>Combining centralities with a Random Forest makes the ranking more robust than PageRank — the measure it learns — against </a:t>
            </a:r>
            <a:r>
              <a:rPr sz="3400" b="1" i="0">
                <a:solidFill>
                  <a:srgbClr val="13293D"/>
                </a:solidFill>
                <a:latin typeface="Calibri"/>
              </a:rPr>
              <a:t>added</a:t>
            </a:r>
            <a:r>
              <a:rPr sz="3400" b="0" i="0">
                <a:solidFill>
                  <a:srgbClr val="13293D"/>
                </a:solidFill>
                <a:latin typeface="Calibri"/>
              </a:rPr>
              <a:t> citations, but not against </a:t>
            </a:r>
            <a:r>
              <a:rPr sz="3400" b="1" i="0">
                <a:solidFill>
                  <a:srgbClr val="13293D"/>
                </a:solidFill>
                <a:latin typeface="Calibri"/>
              </a:rPr>
              <a:t>missing</a:t>
            </a:r>
            <a:r>
              <a:rPr sz="3400" b="0" i="0">
                <a:solidFill>
                  <a:srgbClr val="13293D"/>
                </a:solidFill>
                <a:latin typeface="Calibri"/>
              </a:rPr>
              <a:t> ones.</a:t>
            </a:r>
          </a:p>
        </p:txBody>
      </p:sp>
      <p:sp>
        <p:nvSpPr>
          <p:cNvPr id="10" name="stat card 1"/>
          <p:cNvSpPr/>
          <p:nvPr/>
        </p:nvSpPr>
        <p:spPr>
          <a:xfrm>
            <a:off x="12801600" y="5989320"/>
            <a:ext cx="5032320" cy="3017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t 1 number"/>
          <p:cNvSpPr txBox="1"/>
          <p:nvPr/>
        </p:nvSpPr>
        <p:spPr>
          <a:xfrm>
            <a:off x="13075920" y="6126480"/>
            <a:ext cx="4483680" cy="1097280"/>
          </a:xfrm>
          <a:prstGeom prst="rect">
            <a:avLst/>
          </a:prstGeom>
          <a:noFill/>
        </p:spPr>
        <p:txBody>
          <a:bodyPr wrap="square" lIns="0" rIns="0" tIns="0" bIns="0" anchor="ctr">
            <a:spAutoFit/>
          </a:bodyPr>
          <a:lstStyle/>
          <a:p>
            <a:pPr algn="ctr">
              <a:lnSpc>
                <a:spcPct val="105000"/>
              </a:lnSpc>
              <a:spcAft>
                <a:spcPts val="0"/>
              </a:spcAft>
            </a:pPr>
            <a:r>
              <a:rPr sz="5200" b="1" i="0">
                <a:solidFill>
                  <a:srgbClr val="D98E04"/>
                </a:solidFill>
                <a:latin typeface="Cambria"/>
              </a:rPr>
              <a:t>61% vs 42%</a:t>
            </a:r>
          </a:p>
        </p:txBody>
      </p:sp>
      <p:sp>
        <p:nvSpPr>
          <p:cNvPr id="12" name="stat 1 label"/>
          <p:cNvSpPr txBox="1"/>
          <p:nvPr/>
        </p:nvSpPr>
        <p:spPr>
          <a:xfrm>
            <a:off x="13075920" y="7269480"/>
            <a:ext cx="4483680" cy="1554480"/>
          </a:xfrm>
          <a:prstGeom prst="rect">
            <a:avLst/>
          </a:prstGeom>
          <a:noFill/>
        </p:spPr>
        <p:txBody>
          <a:bodyPr wrap="square" lIns="0" rIns="0" tIns="0" bIns="0" anchor="t">
            <a:spAutoFit/>
          </a:bodyPr>
          <a:lstStyle/>
          <a:p>
            <a:pPr algn="ctr">
              <a:lnSpc>
                <a:spcPct val="100000"/>
              </a:lnSpc>
              <a:spcAft>
                <a:spcPts val="0"/>
              </a:spcAft>
            </a:pPr>
            <a:r>
              <a:rPr sz="2200" b="0" i="0">
                <a:solidFill>
                  <a:srgbClr val="1F2A33"/>
                </a:solidFill>
                <a:latin typeface="Calibri"/>
              </a:rPr>
              <a:t>of the top‑10 % papers stay on top: forest vs PageRank, after adding 20 % citations</a:t>
            </a:r>
          </a:p>
        </p:txBody>
      </p:sp>
      <p:sp>
        <p:nvSpPr>
          <p:cNvPr id="13" name="stat card 2"/>
          <p:cNvSpPr/>
          <p:nvPr/>
        </p:nvSpPr>
        <p:spPr>
          <a:xfrm>
            <a:off x="18199680" y="5989320"/>
            <a:ext cx="5032320" cy="3017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tat 2 number"/>
          <p:cNvSpPr txBox="1"/>
          <p:nvPr/>
        </p:nvSpPr>
        <p:spPr>
          <a:xfrm>
            <a:off x="18474000" y="6126480"/>
            <a:ext cx="4483680" cy="1097280"/>
          </a:xfrm>
          <a:prstGeom prst="rect">
            <a:avLst/>
          </a:prstGeom>
          <a:noFill/>
        </p:spPr>
        <p:txBody>
          <a:bodyPr wrap="square" lIns="0" rIns="0" tIns="0" bIns="0" anchor="ctr">
            <a:spAutoFit/>
          </a:bodyPr>
          <a:lstStyle/>
          <a:p>
            <a:pPr algn="ctr">
              <a:lnSpc>
                <a:spcPct val="105000"/>
              </a:lnSpc>
              <a:spcAft>
                <a:spcPts val="0"/>
              </a:spcAft>
            </a:pPr>
            <a:r>
              <a:rPr sz="5200" b="1" i="0">
                <a:solidFill>
                  <a:srgbClr val="D98E04"/>
                </a:solidFill>
                <a:latin typeface="Cambria"/>
              </a:rPr>
              <a:t>0.83 vs 0.86</a:t>
            </a:r>
          </a:p>
        </p:txBody>
      </p:sp>
      <p:sp>
        <p:nvSpPr>
          <p:cNvPr id="15" name="stat 2 label"/>
          <p:cNvSpPr txBox="1"/>
          <p:nvPr/>
        </p:nvSpPr>
        <p:spPr>
          <a:xfrm>
            <a:off x="18474000" y="7269480"/>
            <a:ext cx="4483680" cy="1554480"/>
          </a:xfrm>
          <a:prstGeom prst="rect">
            <a:avLst/>
          </a:prstGeom>
          <a:noFill/>
        </p:spPr>
        <p:txBody>
          <a:bodyPr wrap="square" lIns="0" rIns="0" tIns="0" bIns="0" anchor="t">
            <a:spAutoFit/>
          </a:bodyPr>
          <a:lstStyle/>
          <a:p>
            <a:pPr algn="ctr">
              <a:lnSpc>
                <a:spcPct val="100000"/>
              </a:lnSpc>
              <a:spcAft>
                <a:spcPts val="0"/>
              </a:spcAft>
            </a:pPr>
            <a:r>
              <a:rPr sz="2200" b="0" i="0">
                <a:solidFill>
                  <a:srgbClr val="1F2A33"/>
                </a:solidFill>
                <a:latin typeface="Calibri"/>
              </a:rPr>
              <a:t>Spearman with the original ranking after removing 20 % of citations: forest vs PageRank</a:t>
            </a:r>
          </a:p>
        </p:txBody>
      </p:sp>
      <p:sp>
        <p:nvSpPr>
          <p:cNvPr id="16" name="stat card 3"/>
          <p:cNvSpPr/>
          <p:nvPr/>
        </p:nvSpPr>
        <p:spPr>
          <a:xfrm>
            <a:off x="23597760" y="5989320"/>
            <a:ext cx="5032320" cy="3017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tat 3 number"/>
          <p:cNvSpPr txBox="1"/>
          <p:nvPr/>
        </p:nvSpPr>
        <p:spPr>
          <a:xfrm>
            <a:off x="23872080" y="6126480"/>
            <a:ext cx="4483680" cy="1097280"/>
          </a:xfrm>
          <a:prstGeom prst="rect">
            <a:avLst/>
          </a:prstGeom>
          <a:noFill/>
        </p:spPr>
        <p:txBody>
          <a:bodyPr wrap="square" lIns="0" rIns="0" tIns="0" bIns="0" anchor="ctr">
            <a:spAutoFit/>
          </a:bodyPr>
          <a:lstStyle/>
          <a:p>
            <a:pPr algn="ctr">
              <a:lnSpc>
                <a:spcPct val="105000"/>
              </a:lnSpc>
              <a:spcAft>
                <a:spcPts val="0"/>
              </a:spcAft>
            </a:pPr>
            <a:r>
              <a:rPr sz="5200" b="1" i="0">
                <a:solidFill>
                  <a:srgbClr val="13293D"/>
                </a:solidFill>
                <a:latin typeface="Cambria"/>
              </a:rPr>
              <a:t>270</a:t>
            </a:r>
          </a:p>
        </p:txBody>
      </p:sp>
      <p:sp>
        <p:nvSpPr>
          <p:cNvPr id="18" name="stat 3 label"/>
          <p:cNvSpPr txBox="1"/>
          <p:nvPr/>
        </p:nvSpPr>
        <p:spPr>
          <a:xfrm>
            <a:off x="23872080" y="7269480"/>
            <a:ext cx="4483680" cy="1554480"/>
          </a:xfrm>
          <a:prstGeom prst="rect">
            <a:avLst/>
          </a:prstGeom>
          <a:noFill/>
        </p:spPr>
        <p:txBody>
          <a:bodyPr wrap="square" lIns="0" rIns="0" tIns="0" bIns="0" anchor="t">
            <a:spAutoFit/>
          </a:bodyPr>
          <a:lstStyle/>
          <a:p>
            <a:pPr algn="ctr">
              <a:lnSpc>
                <a:spcPct val="100000"/>
              </a:lnSpc>
              <a:spcAft>
                <a:spcPts val="0"/>
              </a:spcAft>
            </a:pPr>
            <a:r>
              <a:rPr sz="2200" b="0" i="0">
                <a:solidFill>
                  <a:srgbClr val="1F2A33"/>
                </a:solidFill>
                <a:latin typeface="Calibri"/>
              </a:rPr>
              <a:t>damaged networks: 3 kinds of damage × 3 levels × 30 runs</a:t>
            </a:r>
          </a:p>
        </p:txBody>
      </p:sp>
      <p:sp>
        <p:nvSpPr>
          <p:cNvPr id="19" name="section 1 marker"/>
          <p:cNvSpPr/>
          <p:nvPr/>
        </p:nvSpPr>
        <p:spPr>
          <a:xfrm>
            <a:off x="1097280" y="9966960"/>
            <a:ext cx="960120" cy="960120"/>
          </a:xfrm>
          <a:prstGeom prst="ellipse">
            <a:avLst/>
          </a:prstGeom>
          <a:solidFill>
            <a:srgbClr val="1329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000" b="1">
                <a:solidFill>
                  <a:srgbClr val="FFFFFF"/>
                </a:solidFill>
                <a:latin typeface="Cambria"/>
              </a:rPr>
              <a:t>1</a:t>
            </a:r>
          </a:p>
        </p:txBody>
      </p:sp>
      <p:sp>
        <p:nvSpPr>
          <p:cNvPr id="20" name="section 1 title"/>
          <p:cNvSpPr txBox="1"/>
          <p:nvPr/>
        </p:nvSpPr>
        <p:spPr>
          <a:xfrm>
            <a:off x="2377440" y="9966960"/>
            <a:ext cx="7592640" cy="960120"/>
          </a:xfrm>
          <a:prstGeom prst="rect">
            <a:avLst/>
          </a:prstGeom>
          <a:noFill/>
        </p:spPr>
        <p:txBody>
          <a:bodyPr wrap="square" lIns="0" rIns="0" tIns="0" bIns="0" anchor="ctr">
            <a:spAutoFit/>
          </a:bodyPr>
          <a:lstStyle/>
          <a:p>
            <a:pPr algn="l">
              <a:lnSpc>
                <a:spcPct val="105000"/>
              </a:lnSpc>
              <a:spcAft>
                <a:spcPts val="0"/>
              </a:spcAft>
            </a:pPr>
            <a:r>
              <a:rPr sz="5000" b="1" i="0">
                <a:solidFill>
                  <a:srgbClr val="13293D"/>
                </a:solidFill>
                <a:latin typeface="Cambria"/>
              </a:rPr>
              <a:t>The question</a:t>
            </a:r>
          </a:p>
        </p:txBody>
      </p:sp>
      <p:sp>
        <p:nvSpPr>
          <p:cNvPr id="21" name="question text"/>
          <p:cNvSpPr txBox="1"/>
          <p:nvPr/>
        </p:nvSpPr>
        <p:spPr>
          <a:xfrm>
            <a:off x="1097280" y="11292840"/>
            <a:ext cx="8872800" cy="3840480"/>
          </a:xfrm>
          <a:prstGeom prst="rect">
            <a:avLst/>
          </a:prstGeom>
          <a:noFill/>
        </p:spPr>
        <p:txBody>
          <a:bodyPr wrap="square" lIns="0" rIns="0" tIns="0" bIns="0" anchor="t">
            <a:spAutoFit/>
          </a:bodyPr>
          <a:lstStyle/>
          <a:p>
            <a:pPr algn="l">
              <a:lnSpc>
                <a:spcPct val="105000"/>
              </a:lnSpc>
              <a:spcAft>
                <a:spcPts val="1200"/>
              </a:spcAft>
            </a:pPr>
            <a:r>
              <a:rPr sz="2700" b="0" i="0">
                <a:solidFill>
                  <a:srgbClr val="1F2A33"/>
                </a:solidFill>
                <a:latin typeface="Calibri"/>
              </a:rPr>
              <a:t>Centrality measures rank papers by importance, but citation data is incomplete and noisy. A small change in the network can reorder the ranking.</a:t>
            </a:r>
          </a:p>
          <a:p>
            <a:pPr algn="l">
              <a:lnSpc>
                <a:spcPct val="105000"/>
              </a:lnSpc>
              <a:spcAft>
                <a:spcPts val="1200"/>
              </a:spcAft>
            </a:pPr>
            <a:r>
              <a:rPr sz="2700" b="1" i="0">
                <a:solidFill>
                  <a:srgbClr val="13293D"/>
                </a:solidFill>
                <a:latin typeface="Calibri"/>
              </a:rPr>
              <a:t>Is a learned combination of measures more stable than any single one?</a:t>
            </a:r>
          </a:p>
          <a:p>
            <a:pPr algn="l" marL="411480" indent="-411480">
              <a:lnSpc>
                <a:spcPct val="105000"/>
              </a:lnSpc>
              <a:spcAft>
                <a:spcPts val="400"/>
              </a:spcAft>
              <a:buClr>
                <a:srgbClr val="13293D"/>
              </a:buClr>
              <a:buFont typeface="Arial"/>
              <a:buChar char="•"/>
            </a:pPr>
            <a:r>
              <a:rPr sz="2700" b="0" i="0">
                <a:solidFill>
                  <a:srgbClr val="1F2A33"/>
                </a:solidFill>
                <a:latin typeface="Calibri"/>
              </a:rPr>
              <a:t>Are the most important papers also the most stable?</a:t>
            </a:r>
          </a:p>
          <a:p>
            <a:pPr algn="l" marL="411480" indent="-411480">
              <a:lnSpc>
                <a:spcPct val="105000"/>
              </a:lnSpc>
              <a:spcAft>
                <a:spcPts val="0"/>
              </a:spcAft>
              <a:buClr>
                <a:srgbClr val="13293D"/>
              </a:buClr>
              <a:buFont typeface="Arial"/>
              <a:buChar char="•"/>
            </a:pPr>
            <a:r>
              <a:rPr sz="2700" b="0" i="0">
                <a:solidFill>
                  <a:srgbClr val="1F2A33"/>
                </a:solidFill>
                <a:latin typeface="Calibri"/>
              </a:rPr>
              <a:t>Which papers look important but are fragile?</a:t>
            </a:r>
          </a:p>
        </p:txBody>
      </p:sp>
      <p:sp>
        <p:nvSpPr>
          <p:cNvPr id="22" name="section 2 marker"/>
          <p:cNvSpPr/>
          <p:nvPr/>
        </p:nvSpPr>
        <p:spPr>
          <a:xfrm>
            <a:off x="10701600" y="9966960"/>
            <a:ext cx="960120" cy="960120"/>
          </a:xfrm>
          <a:prstGeom prst="ellipse">
            <a:avLst/>
          </a:prstGeom>
          <a:solidFill>
            <a:srgbClr val="1329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000" b="1">
                <a:solidFill>
                  <a:srgbClr val="FFFFFF"/>
                </a:solidFill>
                <a:latin typeface="Cambria"/>
              </a:rPr>
              <a:t>2</a:t>
            </a:r>
          </a:p>
        </p:txBody>
      </p:sp>
      <p:sp>
        <p:nvSpPr>
          <p:cNvPr id="23" name="section 2 title"/>
          <p:cNvSpPr txBox="1"/>
          <p:nvPr/>
        </p:nvSpPr>
        <p:spPr>
          <a:xfrm>
            <a:off x="11981760" y="9966960"/>
            <a:ext cx="7592640" cy="960120"/>
          </a:xfrm>
          <a:prstGeom prst="rect">
            <a:avLst/>
          </a:prstGeom>
          <a:noFill/>
        </p:spPr>
        <p:txBody>
          <a:bodyPr wrap="square" lIns="0" rIns="0" tIns="0" bIns="0" anchor="ctr">
            <a:spAutoFit/>
          </a:bodyPr>
          <a:lstStyle/>
          <a:p>
            <a:pPr algn="l">
              <a:lnSpc>
                <a:spcPct val="105000"/>
              </a:lnSpc>
              <a:spcAft>
                <a:spcPts val="0"/>
              </a:spcAft>
            </a:pPr>
            <a:r>
              <a:rPr sz="5000" b="1" i="0">
                <a:solidFill>
                  <a:srgbClr val="13293D"/>
                </a:solidFill>
                <a:latin typeface="Cambria"/>
              </a:rPr>
              <a:t>The data</a:t>
            </a:r>
          </a:p>
        </p:txBody>
      </p:sp>
      <p:sp>
        <p:nvSpPr>
          <p:cNvPr id="24" name="data stat 1"/>
          <p:cNvSpPr/>
          <p:nvPr/>
        </p:nvSpPr>
        <p:spPr>
          <a:xfrm>
            <a:off x="10701600" y="11292840"/>
            <a:ext cx="4253520" cy="1737360"/>
          </a:xfrm>
          <a:prstGeom prst="roundRect">
            <a:avLst>
              <a:gd name="adj" fmla="val 6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ata number 1"/>
          <p:cNvSpPr txBox="1"/>
          <p:nvPr/>
        </p:nvSpPr>
        <p:spPr>
          <a:xfrm>
            <a:off x="10701600" y="11475720"/>
            <a:ext cx="4253520" cy="914400"/>
          </a:xfrm>
          <a:prstGeom prst="rect">
            <a:avLst/>
          </a:prstGeom>
          <a:noFill/>
        </p:spPr>
        <p:txBody>
          <a:bodyPr wrap="square" lIns="0" rIns="0" tIns="0" bIns="0" anchor="t">
            <a:spAutoFit/>
          </a:bodyPr>
          <a:lstStyle/>
          <a:p>
            <a:pPr algn="ctr">
              <a:lnSpc>
                <a:spcPct val="105000"/>
              </a:lnSpc>
              <a:spcAft>
                <a:spcPts val="0"/>
              </a:spcAft>
            </a:pPr>
            <a:r>
              <a:rPr sz="5000" b="1" i="0">
                <a:solidFill>
                  <a:srgbClr val="13293D"/>
                </a:solidFill>
                <a:latin typeface="Cambria"/>
              </a:rPr>
              <a:t>19,717</a:t>
            </a:r>
          </a:p>
        </p:txBody>
      </p:sp>
      <p:sp>
        <p:nvSpPr>
          <p:cNvPr id="26" name="data label 1"/>
          <p:cNvSpPr txBox="1"/>
          <p:nvPr/>
        </p:nvSpPr>
        <p:spPr>
          <a:xfrm>
            <a:off x="10701600" y="12390120"/>
            <a:ext cx="4253520" cy="548640"/>
          </a:xfrm>
          <a:prstGeom prst="rect">
            <a:avLst/>
          </a:prstGeom>
          <a:noFill/>
        </p:spPr>
        <p:txBody>
          <a:bodyPr wrap="square" lIns="0" rIns="0" tIns="0" bIns="0" anchor="t">
            <a:spAutoFit/>
          </a:bodyPr>
          <a:lstStyle/>
          <a:p>
            <a:pPr algn="ctr">
              <a:lnSpc>
                <a:spcPct val="105000"/>
              </a:lnSpc>
              <a:spcAft>
                <a:spcPts val="0"/>
              </a:spcAft>
            </a:pPr>
            <a:r>
              <a:rPr sz="2400" b="0" i="0">
                <a:solidFill>
                  <a:srgbClr val="5B6770"/>
                </a:solidFill>
                <a:latin typeface="Calibri"/>
              </a:rPr>
              <a:t>papers on diabetes</a:t>
            </a:r>
          </a:p>
        </p:txBody>
      </p:sp>
      <p:sp>
        <p:nvSpPr>
          <p:cNvPr id="27" name="data stat 2"/>
          <p:cNvSpPr/>
          <p:nvPr/>
        </p:nvSpPr>
        <p:spPr>
          <a:xfrm>
            <a:off x="15320880" y="11292840"/>
            <a:ext cx="4253520" cy="1737360"/>
          </a:xfrm>
          <a:prstGeom prst="roundRect">
            <a:avLst>
              <a:gd name="adj" fmla="val 6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ata number 2"/>
          <p:cNvSpPr txBox="1"/>
          <p:nvPr/>
        </p:nvSpPr>
        <p:spPr>
          <a:xfrm>
            <a:off x="15320880" y="11475720"/>
            <a:ext cx="4253520" cy="914400"/>
          </a:xfrm>
          <a:prstGeom prst="rect">
            <a:avLst/>
          </a:prstGeom>
          <a:noFill/>
        </p:spPr>
        <p:txBody>
          <a:bodyPr wrap="square" lIns="0" rIns="0" tIns="0" bIns="0" anchor="t">
            <a:spAutoFit/>
          </a:bodyPr>
          <a:lstStyle/>
          <a:p>
            <a:pPr algn="ctr">
              <a:lnSpc>
                <a:spcPct val="105000"/>
              </a:lnSpc>
              <a:spcAft>
                <a:spcPts val="0"/>
              </a:spcAft>
            </a:pPr>
            <a:r>
              <a:rPr sz="5000" b="1" i="0">
                <a:solidFill>
                  <a:srgbClr val="13293D"/>
                </a:solidFill>
                <a:latin typeface="Cambria"/>
              </a:rPr>
              <a:t>44,324</a:t>
            </a:r>
          </a:p>
        </p:txBody>
      </p:sp>
      <p:sp>
        <p:nvSpPr>
          <p:cNvPr id="29" name="data label 2"/>
          <p:cNvSpPr txBox="1"/>
          <p:nvPr/>
        </p:nvSpPr>
        <p:spPr>
          <a:xfrm>
            <a:off x="15320880" y="12390120"/>
            <a:ext cx="4253520" cy="548640"/>
          </a:xfrm>
          <a:prstGeom prst="rect">
            <a:avLst/>
          </a:prstGeom>
          <a:noFill/>
        </p:spPr>
        <p:txBody>
          <a:bodyPr wrap="square" lIns="0" rIns="0" tIns="0" bIns="0" anchor="t">
            <a:spAutoFit/>
          </a:bodyPr>
          <a:lstStyle/>
          <a:p>
            <a:pPr algn="ctr">
              <a:lnSpc>
                <a:spcPct val="105000"/>
              </a:lnSpc>
              <a:spcAft>
                <a:spcPts val="0"/>
              </a:spcAft>
            </a:pPr>
            <a:r>
              <a:rPr sz="2400" b="0" i="0">
                <a:solidFill>
                  <a:srgbClr val="5B6770"/>
                </a:solidFill>
                <a:latin typeface="Calibri"/>
              </a:rPr>
              <a:t>citations</a:t>
            </a:r>
          </a:p>
        </p:txBody>
      </p:sp>
      <p:sp>
        <p:nvSpPr>
          <p:cNvPr id="30" name="data text"/>
          <p:cNvSpPr txBox="1"/>
          <p:nvPr/>
        </p:nvSpPr>
        <p:spPr>
          <a:xfrm>
            <a:off x="10701600" y="13395960"/>
            <a:ext cx="8872800" cy="2194560"/>
          </a:xfrm>
          <a:prstGeom prst="rect">
            <a:avLst/>
          </a:prstGeom>
          <a:noFill/>
        </p:spPr>
        <p:txBody>
          <a:bodyPr wrap="square" lIns="0" rIns="0" tIns="0" bIns="0" anchor="t">
            <a:spAutoFit/>
          </a:bodyPr>
          <a:lstStyle/>
          <a:p>
            <a:pPr algn="l">
              <a:lnSpc>
                <a:spcPct val="105000"/>
              </a:lnSpc>
              <a:spcAft>
                <a:spcPts val="0"/>
              </a:spcAft>
            </a:pPr>
            <a:r>
              <a:rPr sz="2500" b="0" i="0">
                <a:solidFill>
                  <a:srgbClr val="1F2A33"/>
                </a:solidFill>
                <a:latin typeface="Calibri"/>
              </a:rPr>
              <a:t>PubMed-Diabetes citation network. Cleaning removed 3 self-citations and 11 mutual citations: the result has no citation loops and is one connected network.</a:t>
            </a:r>
          </a:p>
        </p:txBody>
      </p:sp>
      <p:sp>
        <p:nvSpPr>
          <p:cNvPr id="31" name="section 3 marker"/>
          <p:cNvSpPr/>
          <p:nvPr/>
        </p:nvSpPr>
        <p:spPr>
          <a:xfrm>
            <a:off x="20305920" y="9966960"/>
            <a:ext cx="960120" cy="960120"/>
          </a:xfrm>
          <a:prstGeom prst="ellipse">
            <a:avLst/>
          </a:prstGeom>
          <a:solidFill>
            <a:srgbClr val="1329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000" b="1">
                <a:solidFill>
                  <a:srgbClr val="FFFFFF"/>
                </a:solidFill>
                <a:latin typeface="Cambria"/>
              </a:rPr>
              <a:t>3</a:t>
            </a:r>
          </a:p>
        </p:txBody>
      </p:sp>
      <p:sp>
        <p:nvSpPr>
          <p:cNvPr id="32" name="section 3 title"/>
          <p:cNvSpPr txBox="1"/>
          <p:nvPr/>
        </p:nvSpPr>
        <p:spPr>
          <a:xfrm>
            <a:off x="21586080" y="9966960"/>
            <a:ext cx="7592640" cy="960120"/>
          </a:xfrm>
          <a:prstGeom prst="rect">
            <a:avLst/>
          </a:prstGeom>
          <a:noFill/>
        </p:spPr>
        <p:txBody>
          <a:bodyPr wrap="square" lIns="0" rIns="0" tIns="0" bIns="0" anchor="ctr">
            <a:spAutoFit/>
          </a:bodyPr>
          <a:lstStyle/>
          <a:p>
            <a:pPr algn="l">
              <a:lnSpc>
                <a:spcPct val="105000"/>
              </a:lnSpc>
              <a:spcAft>
                <a:spcPts val="0"/>
              </a:spcAft>
            </a:pPr>
            <a:r>
              <a:rPr sz="5000" b="1" i="0">
                <a:solidFill>
                  <a:srgbClr val="13293D"/>
                </a:solidFill>
                <a:latin typeface="Cambria"/>
              </a:rPr>
              <a:t>Damaging the network</a:t>
            </a:r>
          </a:p>
        </p:txBody>
      </p:sp>
      <p:sp>
        <p:nvSpPr>
          <p:cNvPr id="33" name="damage icon 1"/>
          <p:cNvSpPr/>
          <p:nvPr/>
        </p:nvSpPr>
        <p:spPr>
          <a:xfrm>
            <a:off x="20305920" y="11292840"/>
            <a:ext cx="914400" cy="914400"/>
          </a:xfrm>
          <a:prstGeom prst="ellipse">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13293D"/>
                </a:solidFill>
                <a:latin typeface="Calibri"/>
              </a:rPr>
              <a:t>−</a:t>
            </a:r>
          </a:p>
        </p:txBody>
      </p:sp>
      <p:sp>
        <p:nvSpPr>
          <p:cNvPr id="34" name="damage text 1"/>
          <p:cNvSpPr txBox="1"/>
          <p:nvPr/>
        </p:nvSpPr>
        <p:spPr>
          <a:xfrm>
            <a:off x="21494640" y="11247120"/>
            <a:ext cx="7684080" cy="1188720"/>
          </a:xfrm>
          <a:prstGeom prst="rect">
            <a:avLst/>
          </a:prstGeom>
          <a:noFill/>
        </p:spPr>
        <p:txBody>
          <a:bodyPr wrap="square" lIns="0" rIns="0" tIns="0" bIns="0" anchor="t">
            <a:spAutoFit/>
          </a:bodyPr>
          <a:lstStyle/>
          <a:p>
            <a:pPr algn="l">
              <a:lnSpc>
                <a:spcPct val="105000"/>
              </a:lnSpc>
              <a:spcAft>
                <a:spcPts val="0"/>
              </a:spcAft>
            </a:pPr>
            <a:r>
              <a:rPr sz="2700" b="1" i="0">
                <a:solidFill>
                  <a:srgbClr val="13293D"/>
                </a:solidFill>
                <a:latin typeface="Calibri"/>
              </a:rPr>
              <a:t>Remove</a:t>
            </a:r>
          </a:p>
          <a:p>
            <a:pPr algn="l">
              <a:lnSpc>
                <a:spcPct val="100000"/>
              </a:lnSpc>
              <a:spcAft>
                <a:spcPts val="0"/>
              </a:spcAft>
            </a:pPr>
            <a:r>
              <a:rPr sz="2300" b="0" i="0">
                <a:solidFill>
                  <a:srgbClr val="1F2A33"/>
                </a:solidFill>
                <a:latin typeface="Calibri"/>
              </a:rPr>
              <a:t>5, 10 or 20 % of citations — missing data</a:t>
            </a:r>
          </a:p>
        </p:txBody>
      </p:sp>
      <p:sp>
        <p:nvSpPr>
          <p:cNvPr id="35" name="damage icon 2"/>
          <p:cNvSpPr/>
          <p:nvPr/>
        </p:nvSpPr>
        <p:spPr>
          <a:xfrm>
            <a:off x="20305920" y="12527280"/>
            <a:ext cx="914400" cy="914400"/>
          </a:xfrm>
          <a:prstGeom prst="ellipse">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13293D"/>
                </a:solidFill>
                <a:latin typeface="Calibri"/>
              </a:rPr>
              <a:t>+</a:t>
            </a:r>
          </a:p>
        </p:txBody>
      </p:sp>
      <p:sp>
        <p:nvSpPr>
          <p:cNvPr id="36" name="damage text 2"/>
          <p:cNvSpPr txBox="1"/>
          <p:nvPr/>
        </p:nvSpPr>
        <p:spPr>
          <a:xfrm>
            <a:off x="21494640" y="12481560"/>
            <a:ext cx="7684080" cy="1188720"/>
          </a:xfrm>
          <a:prstGeom prst="rect">
            <a:avLst/>
          </a:prstGeom>
          <a:noFill/>
        </p:spPr>
        <p:txBody>
          <a:bodyPr wrap="square" lIns="0" rIns="0" tIns="0" bIns="0" anchor="t">
            <a:spAutoFit/>
          </a:bodyPr>
          <a:lstStyle/>
          <a:p>
            <a:pPr algn="l">
              <a:lnSpc>
                <a:spcPct val="105000"/>
              </a:lnSpc>
              <a:spcAft>
                <a:spcPts val="0"/>
              </a:spcAft>
            </a:pPr>
            <a:r>
              <a:rPr sz="2700" b="1" i="0">
                <a:solidFill>
                  <a:srgbClr val="13293D"/>
                </a:solidFill>
                <a:latin typeface="Calibri"/>
              </a:rPr>
              <a:t>Add, newer → older</a:t>
            </a:r>
          </a:p>
          <a:p>
            <a:pPr algn="l">
              <a:lnSpc>
                <a:spcPct val="100000"/>
              </a:lnSpc>
              <a:spcAft>
                <a:spcPts val="0"/>
              </a:spcAft>
            </a:pPr>
            <a:r>
              <a:rPr sz="2300" b="0" i="0">
                <a:solidFill>
                  <a:srgbClr val="1F2A33"/>
                </a:solidFill>
                <a:latin typeface="Calibri"/>
              </a:rPr>
              <a:t>fake citations that are still possible in time</a:t>
            </a:r>
          </a:p>
        </p:txBody>
      </p:sp>
      <p:sp>
        <p:nvSpPr>
          <p:cNvPr id="37" name="damage icon 3"/>
          <p:cNvSpPr/>
          <p:nvPr/>
        </p:nvSpPr>
        <p:spPr>
          <a:xfrm>
            <a:off x="20305920" y="13761720"/>
            <a:ext cx="914400" cy="914400"/>
          </a:xfrm>
          <a:prstGeom prst="ellipse">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13293D"/>
                </a:solidFill>
                <a:latin typeface="Calibri"/>
              </a:rPr>
              <a:t>±</a:t>
            </a:r>
          </a:p>
        </p:txBody>
      </p:sp>
      <p:sp>
        <p:nvSpPr>
          <p:cNvPr id="38" name="damage text 3"/>
          <p:cNvSpPr txBox="1"/>
          <p:nvPr/>
        </p:nvSpPr>
        <p:spPr>
          <a:xfrm>
            <a:off x="21494640" y="13716000"/>
            <a:ext cx="7684080" cy="1188720"/>
          </a:xfrm>
          <a:prstGeom prst="rect">
            <a:avLst/>
          </a:prstGeom>
          <a:noFill/>
        </p:spPr>
        <p:txBody>
          <a:bodyPr wrap="square" lIns="0" rIns="0" tIns="0" bIns="0" anchor="t">
            <a:spAutoFit/>
          </a:bodyPr>
          <a:lstStyle/>
          <a:p>
            <a:pPr algn="l">
              <a:lnSpc>
                <a:spcPct val="105000"/>
              </a:lnSpc>
              <a:spcAft>
                <a:spcPts val="0"/>
              </a:spcAft>
            </a:pPr>
            <a:r>
              <a:rPr sz="2700" b="1" i="0">
                <a:solidFill>
                  <a:srgbClr val="13293D"/>
                </a:solidFill>
                <a:latin typeface="Calibri"/>
              </a:rPr>
              <a:t>Add at random</a:t>
            </a:r>
          </a:p>
          <a:p>
            <a:pPr algn="l">
              <a:lnSpc>
                <a:spcPct val="100000"/>
              </a:lnSpc>
              <a:spcAft>
                <a:spcPts val="0"/>
              </a:spcAft>
            </a:pPr>
            <a:r>
              <a:rPr sz="2300" b="0" i="0">
                <a:solidFill>
                  <a:srgbClr val="1F2A33"/>
                </a:solidFill>
                <a:latin typeface="Calibri"/>
              </a:rPr>
              <a:t>the Phase A design; creates impossible citation loops</a:t>
            </a:r>
          </a:p>
        </p:txBody>
      </p:sp>
      <p:sp>
        <p:nvSpPr>
          <p:cNvPr id="39" name="section 4 marker"/>
          <p:cNvSpPr/>
          <p:nvPr/>
        </p:nvSpPr>
        <p:spPr>
          <a:xfrm>
            <a:off x="1097280" y="15544800"/>
            <a:ext cx="960120" cy="960120"/>
          </a:xfrm>
          <a:prstGeom prst="ellipse">
            <a:avLst/>
          </a:prstGeom>
          <a:solidFill>
            <a:srgbClr val="1329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000" b="1">
                <a:solidFill>
                  <a:srgbClr val="FFFFFF"/>
                </a:solidFill>
                <a:latin typeface="Cambria"/>
              </a:rPr>
              <a:t>4</a:t>
            </a:r>
          </a:p>
        </p:txBody>
      </p:sp>
      <p:sp>
        <p:nvSpPr>
          <p:cNvPr id="40" name="section 4 title"/>
          <p:cNvSpPr txBox="1"/>
          <p:nvPr/>
        </p:nvSpPr>
        <p:spPr>
          <a:xfrm>
            <a:off x="2377440" y="15544800"/>
            <a:ext cx="26801280" cy="960120"/>
          </a:xfrm>
          <a:prstGeom prst="rect">
            <a:avLst/>
          </a:prstGeom>
          <a:noFill/>
        </p:spPr>
        <p:txBody>
          <a:bodyPr wrap="square" lIns="0" rIns="0" tIns="0" bIns="0" anchor="ctr">
            <a:spAutoFit/>
          </a:bodyPr>
          <a:lstStyle/>
          <a:p>
            <a:pPr algn="l">
              <a:lnSpc>
                <a:spcPct val="105000"/>
              </a:lnSpc>
              <a:spcAft>
                <a:spcPts val="0"/>
              </a:spcAft>
            </a:pPr>
            <a:r>
              <a:rPr sz="5000" b="1" i="0">
                <a:solidFill>
                  <a:srgbClr val="13293D"/>
                </a:solidFill>
                <a:latin typeface="Cambria"/>
              </a:rPr>
              <a:t>How we measure stability</a:t>
            </a:r>
          </a:p>
        </p:txBody>
      </p:sp>
      <p:sp>
        <p:nvSpPr>
          <p:cNvPr id="41" name="step 1"/>
          <p:cNvSpPr/>
          <p:nvPr/>
        </p:nvSpPr>
        <p:spPr>
          <a:xfrm>
            <a:off x="1097280" y="16870680"/>
            <a:ext cx="3880140" cy="2468880"/>
          </a:xfrm>
          <a:prstGeom prst="roundRect">
            <a:avLst>
              <a:gd name="adj" fmla="val 6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tep 1 text"/>
          <p:cNvSpPr txBox="1"/>
          <p:nvPr/>
        </p:nvSpPr>
        <p:spPr>
          <a:xfrm>
            <a:off x="1371600" y="17145000"/>
            <a:ext cx="3331500" cy="1920240"/>
          </a:xfrm>
          <a:prstGeom prst="rect">
            <a:avLst/>
          </a:prstGeom>
          <a:noFill/>
        </p:spPr>
        <p:txBody>
          <a:bodyPr wrap="square" lIns="0" rIns="0" tIns="0" bIns="0" anchor="t">
            <a:spAutoFit/>
          </a:bodyPr>
          <a:lstStyle/>
          <a:p>
            <a:pPr algn="l">
              <a:lnSpc>
                <a:spcPct val="105000"/>
              </a:lnSpc>
              <a:spcAft>
                <a:spcPts val="800"/>
              </a:spcAft>
            </a:pPr>
            <a:r>
              <a:rPr sz="2600" b="1" i="0">
                <a:solidFill>
                  <a:srgbClr val="D98E04"/>
                </a:solidFill>
                <a:latin typeface="Calibri"/>
              </a:rPr>
              <a:t>1  </a:t>
            </a:r>
            <a:r>
              <a:rPr sz="2800" b="1" i="0">
                <a:solidFill>
                  <a:srgbClr val="13293D"/>
                </a:solidFill>
                <a:latin typeface="Calibri"/>
              </a:rPr>
              <a:t>Centralities</a:t>
            </a:r>
          </a:p>
          <a:p>
            <a:pPr algn="l">
              <a:lnSpc>
                <a:spcPct val="100000"/>
              </a:lnSpc>
              <a:spcAft>
                <a:spcPts val="0"/>
              </a:spcAft>
            </a:pPr>
            <a:r>
              <a:rPr sz="2300" b="0" i="0">
                <a:solidFill>
                  <a:srgbClr val="1F2A33"/>
                </a:solidFill>
                <a:latin typeface="Calibri"/>
              </a:rPr>
              <a:t>degree, betweenness, closeness, PageRank, k‑core</a:t>
            </a:r>
          </a:p>
        </p:txBody>
      </p:sp>
      <p:sp>
        <p:nvSpPr>
          <p:cNvPr id="43" name="arrow 1"/>
          <p:cNvSpPr/>
          <p:nvPr/>
        </p:nvSpPr>
        <p:spPr>
          <a:xfrm>
            <a:off x="5206020" y="17830800"/>
            <a:ext cx="502920" cy="548640"/>
          </a:xfrm>
          <a:prstGeom prst="rightArrow">
            <a:avLst/>
          </a:prstGeom>
          <a:solidFill>
            <a:srgbClr val="C9D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tep 2"/>
          <p:cNvSpPr/>
          <p:nvPr/>
        </p:nvSpPr>
        <p:spPr>
          <a:xfrm>
            <a:off x="5937540" y="16870680"/>
            <a:ext cx="3880140" cy="2468880"/>
          </a:xfrm>
          <a:prstGeom prst="roundRect">
            <a:avLst>
              <a:gd name="adj" fmla="val 6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ep 2 text"/>
          <p:cNvSpPr txBox="1"/>
          <p:nvPr/>
        </p:nvSpPr>
        <p:spPr>
          <a:xfrm>
            <a:off x="6211860" y="17145000"/>
            <a:ext cx="3331500" cy="1920240"/>
          </a:xfrm>
          <a:prstGeom prst="rect">
            <a:avLst/>
          </a:prstGeom>
          <a:noFill/>
        </p:spPr>
        <p:txBody>
          <a:bodyPr wrap="square" lIns="0" rIns="0" tIns="0" bIns="0" anchor="t">
            <a:spAutoFit/>
          </a:bodyPr>
          <a:lstStyle/>
          <a:p>
            <a:pPr algn="l">
              <a:lnSpc>
                <a:spcPct val="105000"/>
              </a:lnSpc>
              <a:spcAft>
                <a:spcPts val="800"/>
              </a:spcAft>
            </a:pPr>
            <a:r>
              <a:rPr sz="2600" b="1" i="0">
                <a:solidFill>
                  <a:srgbClr val="D98E04"/>
                </a:solidFill>
                <a:latin typeface="Calibri"/>
              </a:rPr>
              <a:t>2  </a:t>
            </a:r>
            <a:r>
              <a:rPr sz="2800" b="1" i="0">
                <a:solidFill>
                  <a:srgbClr val="13293D"/>
                </a:solidFill>
                <a:latin typeface="Calibri"/>
              </a:rPr>
              <a:t>Frozen scaler</a:t>
            </a:r>
          </a:p>
          <a:p>
            <a:pPr algn="l">
              <a:lnSpc>
                <a:spcPct val="100000"/>
              </a:lnSpc>
              <a:spcAft>
                <a:spcPts val="0"/>
              </a:spcAft>
            </a:pPr>
            <a:r>
              <a:rPr sz="2300" b="0" i="0">
                <a:solidFill>
                  <a:srgbClr val="1F2A33"/>
                </a:solidFill>
                <a:latin typeface="Calibri"/>
              </a:rPr>
              <a:t>Min-Max, fitted once on the original network</a:t>
            </a:r>
          </a:p>
        </p:txBody>
      </p:sp>
      <p:sp>
        <p:nvSpPr>
          <p:cNvPr id="46" name="arrow 2"/>
          <p:cNvSpPr/>
          <p:nvPr/>
        </p:nvSpPr>
        <p:spPr>
          <a:xfrm>
            <a:off x="10046280" y="17830800"/>
            <a:ext cx="502920" cy="548640"/>
          </a:xfrm>
          <a:prstGeom prst="rightArrow">
            <a:avLst/>
          </a:prstGeom>
          <a:solidFill>
            <a:srgbClr val="C9D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tep 3"/>
          <p:cNvSpPr/>
          <p:nvPr/>
        </p:nvSpPr>
        <p:spPr>
          <a:xfrm>
            <a:off x="10777800" y="16870680"/>
            <a:ext cx="3880140" cy="2468880"/>
          </a:xfrm>
          <a:prstGeom prst="roundRect">
            <a:avLst>
              <a:gd name="adj" fmla="val 6000"/>
            </a:avLst>
          </a:prstGeom>
          <a:solidFill>
            <a:srgbClr val="1329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tep 3 text"/>
          <p:cNvSpPr txBox="1"/>
          <p:nvPr/>
        </p:nvSpPr>
        <p:spPr>
          <a:xfrm>
            <a:off x="11052120" y="17145000"/>
            <a:ext cx="3331500" cy="1920240"/>
          </a:xfrm>
          <a:prstGeom prst="rect">
            <a:avLst/>
          </a:prstGeom>
          <a:noFill/>
        </p:spPr>
        <p:txBody>
          <a:bodyPr wrap="square" lIns="0" rIns="0" tIns="0" bIns="0" anchor="t">
            <a:spAutoFit/>
          </a:bodyPr>
          <a:lstStyle/>
          <a:p>
            <a:pPr algn="l">
              <a:lnSpc>
                <a:spcPct val="105000"/>
              </a:lnSpc>
              <a:spcAft>
                <a:spcPts val="800"/>
              </a:spcAft>
            </a:pPr>
            <a:r>
              <a:rPr sz="2600" b="1" i="0">
                <a:solidFill>
                  <a:srgbClr val="D98E04"/>
                </a:solidFill>
                <a:latin typeface="Calibri"/>
              </a:rPr>
              <a:t>3  </a:t>
            </a:r>
            <a:r>
              <a:rPr sz="2800" b="1" i="0">
                <a:solidFill>
                  <a:srgbClr val="FFFFFF"/>
                </a:solidFill>
                <a:latin typeface="Calibri"/>
              </a:rPr>
              <a:t>Random Forest</a:t>
            </a:r>
          </a:p>
          <a:p>
            <a:pPr algn="l">
              <a:lnSpc>
                <a:spcPct val="100000"/>
              </a:lnSpc>
              <a:spcAft>
                <a:spcPts val="0"/>
              </a:spcAft>
            </a:pPr>
            <a:r>
              <a:rPr sz="2300" b="0" i="0">
                <a:solidFill>
                  <a:srgbClr val="FFFFFF"/>
                </a:solidFill>
                <a:latin typeface="Calibri"/>
              </a:rPr>
              <a:t>learns PageRank from the other four measures</a:t>
            </a:r>
          </a:p>
        </p:txBody>
      </p:sp>
      <p:sp>
        <p:nvSpPr>
          <p:cNvPr id="49" name="arrow 3"/>
          <p:cNvSpPr/>
          <p:nvPr/>
        </p:nvSpPr>
        <p:spPr>
          <a:xfrm>
            <a:off x="14886540" y="17830800"/>
            <a:ext cx="502920" cy="548640"/>
          </a:xfrm>
          <a:prstGeom prst="rightArrow">
            <a:avLst/>
          </a:prstGeom>
          <a:solidFill>
            <a:srgbClr val="C9D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tep 4"/>
          <p:cNvSpPr/>
          <p:nvPr/>
        </p:nvSpPr>
        <p:spPr>
          <a:xfrm>
            <a:off x="15618060" y="16870680"/>
            <a:ext cx="3880140" cy="2468880"/>
          </a:xfrm>
          <a:prstGeom prst="roundRect">
            <a:avLst>
              <a:gd name="adj" fmla="val 6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tep 4 text"/>
          <p:cNvSpPr txBox="1"/>
          <p:nvPr/>
        </p:nvSpPr>
        <p:spPr>
          <a:xfrm>
            <a:off x="15892380" y="17145000"/>
            <a:ext cx="3331500" cy="1920240"/>
          </a:xfrm>
          <a:prstGeom prst="rect">
            <a:avLst/>
          </a:prstGeom>
          <a:noFill/>
        </p:spPr>
        <p:txBody>
          <a:bodyPr wrap="square" lIns="0" rIns="0" tIns="0" bIns="0" anchor="t">
            <a:spAutoFit/>
          </a:bodyPr>
          <a:lstStyle/>
          <a:p>
            <a:pPr algn="l">
              <a:lnSpc>
                <a:spcPct val="105000"/>
              </a:lnSpc>
              <a:spcAft>
                <a:spcPts val="800"/>
              </a:spcAft>
            </a:pPr>
            <a:r>
              <a:rPr sz="2600" b="1" i="0">
                <a:solidFill>
                  <a:srgbClr val="D98E04"/>
                </a:solidFill>
                <a:latin typeface="Calibri"/>
              </a:rPr>
              <a:t>4  </a:t>
            </a:r>
            <a:r>
              <a:rPr sz="2800" b="1" i="0">
                <a:solidFill>
                  <a:srgbClr val="13293D"/>
                </a:solidFill>
                <a:latin typeface="Calibri"/>
              </a:rPr>
              <a:t>Damage</a:t>
            </a:r>
          </a:p>
          <a:p>
            <a:pPr algn="l">
              <a:lnSpc>
                <a:spcPct val="100000"/>
              </a:lnSpc>
              <a:spcAft>
                <a:spcPts val="0"/>
              </a:spcAft>
            </a:pPr>
            <a:r>
              <a:rPr sz="2300" b="0" i="0">
                <a:solidFill>
                  <a:srgbClr val="1F2A33"/>
                </a:solidFill>
                <a:latin typeface="Calibri"/>
              </a:rPr>
              <a:t>remove or add citations; 30 runs per setting</a:t>
            </a:r>
          </a:p>
        </p:txBody>
      </p:sp>
      <p:sp>
        <p:nvSpPr>
          <p:cNvPr id="52" name="arrow 4"/>
          <p:cNvSpPr/>
          <p:nvPr/>
        </p:nvSpPr>
        <p:spPr>
          <a:xfrm>
            <a:off x="19726800" y="17830800"/>
            <a:ext cx="502920" cy="548640"/>
          </a:xfrm>
          <a:prstGeom prst="rightArrow">
            <a:avLst/>
          </a:prstGeom>
          <a:solidFill>
            <a:srgbClr val="C9D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step 5"/>
          <p:cNvSpPr/>
          <p:nvPr/>
        </p:nvSpPr>
        <p:spPr>
          <a:xfrm>
            <a:off x="20458320" y="16870680"/>
            <a:ext cx="3880140" cy="2468880"/>
          </a:xfrm>
          <a:prstGeom prst="roundRect">
            <a:avLst>
              <a:gd name="adj" fmla="val 6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tep 5 text"/>
          <p:cNvSpPr txBox="1"/>
          <p:nvPr/>
        </p:nvSpPr>
        <p:spPr>
          <a:xfrm>
            <a:off x="20732640" y="17145000"/>
            <a:ext cx="3331500" cy="1920240"/>
          </a:xfrm>
          <a:prstGeom prst="rect">
            <a:avLst/>
          </a:prstGeom>
          <a:noFill/>
        </p:spPr>
        <p:txBody>
          <a:bodyPr wrap="square" lIns="0" rIns="0" tIns="0" bIns="0" anchor="t">
            <a:spAutoFit/>
          </a:bodyPr>
          <a:lstStyle/>
          <a:p>
            <a:pPr algn="l">
              <a:lnSpc>
                <a:spcPct val="105000"/>
              </a:lnSpc>
              <a:spcAft>
                <a:spcPts val="800"/>
              </a:spcAft>
            </a:pPr>
            <a:r>
              <a:rPr sz="2600" b="1" i="0">
                <a:solidFill>
                  <a:srgbClr val="D98E04"/>
                </a:solidFill>
                <a:latin typeface="Calibri"/>
              </a:rPr>
              <a:t>5  </a:t>
            </a:r>
            <a:r>
              <a:rPr sz="2800" b="1" i="0">
                <a:solidFill>
                  <a:srgbClr val="13293D"/>
                </a:solidFill>
                <a:latin typeface="Calibri"/>
              </a:rPr>
              <a:t>Re-score</a:t>
            </a:r>
          </a:p>
          <a:p>
            <a:pPr algn="l">
              <a:lnSpc>
                <a:spcPct val="100000"/>
              </a:lnSpc>
              <a:spcAft>
                <a:spcPts val="0"/>
              </a:spcAft>
            </a:pPr>
            <a:r>
              <a:rPr sz="2300" b="0" i="0">
                <a:solidFill>
                  <a:srgbClr val="1F2A33"/>
                </a:solidFill>
                <a:latin typeface="Calibri"/>
              </a:rPr>
              <a:t>same scaler and same forest — no retraining</a:t>
            </a:r>
          </a:p>
        </p:txBody>
      </p:sp>
      <p:sp>
        <p:nvSpPr>
          <p:cNvPr id="55" name="arrow 5"/>
          <p:cNvSpPr/>
          <p:nvPr/>
        </p:nvSpPr>
        <p:spPr>
          <a:xfrm>
            <a:off x="24567060" y="17830800"/>
            <a:ext cx="502920" cy="548640"/>
          </a:xfrm>
          <a:prstGeom prst="rightArrow">
            <a:avLst/>
          </a:prstGeom>
          <a:solidFill>
            <a:srgbClr val="C9D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tep 6"/>
          <p:cNvSpPr/>
          <p:nvPr/>
        </p:nvSpPr>
        <p:spPr>
          <a:xfrm>
            <a:off x="25298580" y="16870680"/>
            <a:ext cx="3880140" cy="2468880"/>
          </a:xfrm>
          <a:prstGeom prst="roundRect">
            <a:avLst>
              <a:gd name="adj" fmla="val 6000"/>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ep 6 text"/>
          <p:cNvSpPr txBox="1"/>
          <p:nvPr/>
        </p:nvSpPr>
        <p:spPr>
          <a:xfrm>
            <a:off x="25572900" y="17145000"/>
            <a:ext cx="3331500" cy="1920240"/>
          </a:xfrm>
          <a:prstGeom prst="rect">
            <a:avLst/>
          </a:prstGeom>
          <a:noFill/>
        </p:spPr>
        <p:txBody>
          <a:bodyPr wrap="square" lIns="0" rIns="0" tIns="0" bIns="0" anchor="t">
            <a:spAutoFit/>
          </a:bodyPr>
          <a:lstStyle/>
          <a:p>
            <a:pPr algn="l">
              <a:lnSpc>
                <a:spcPct val="105000"/>
              </a:lnSpc>
              <a:spcAft>
                <a:spcPts val="800"/>
              </a:spcAft>
            </a:pPr>
            <a:r>
              <a:rPr sz="2600" b="1" i="0">
                <a:solidFill>
                  <a:srgbClr val="D98E04"/>
                </a:solidFill>
                <a:latin typeface="Calibri"/>
              </a:rPr>
              <a:t>6  </a:t>
            </a:r>
            <a:r>
              <a:rPr sz="2800" b="1" i="0">
                <a:solidFill>
                  <a:srgbClr val="13293D"/>
                </a:solidFill>
                <a:latin typeface="Calibri"/>
              </a:rPr>
              <a:t>Compare</a:t>
            </a:r>
          </a:p>
          <a:p>
            <a:pPr algn="l">
              <a:lnSpc>
                <a:spcPct val="100000"/>
              </a:lnSpc>
              <a:spcAft>
                <a:spcPts val="0"/>
              </a:spcAft>
            </a:pPr>
            <a:r>
              <a:rPr sz="2300" b="0" i="0">
                <a:solidFill>
                  <a:srgbClr val="1F2A33"/>
                </a:solidFill>
                <a:latin typeface="Calibri"/>
              </a:rPr>
              <a:t>Spearman, Kendall, top‑10 % kept, per-paper CV</a:t>
            </a:r>
          </a:p>
        </p:txBody>
      </p:sp>
      <p:sp>
        <p:nvSpPr>
          <p:cNvPr id="58" name="method note"/>
          <p:cNvSpPr txBox="1"/>
          <p:nvPr/>
        </p:nvSpPr>
        <p:spPr>
          <a:xfrm>
            <a:off x="1097280" y="19613880"/>
            <a:ext cx="28081440" cy="731520"/>
          </a:xfrm>
          <a:prstGeom prst="rect">
            <a:avLst/>
          </a:prstGeom>
          <a:noFill/>
        </p:spPr>
        <p:txBody>
          <a:bodyPr wrap="square" lIns="0" rIns="0" tIns="0" bIns="0" anchor="t">
            <a:spAutoFit/>
          </a:bodyPr>
          <a:lstStyle/>
          <a:p>
            <a:pPr algn="l">
              <a:lnSpc>
                <a:spcPct val="105000"/>
              </a:lnSpc>
              <a:spcAft>
                <a:spcPts val="0"/>
              </a:spcAft>
            </a:pPr>
            <a:r>
              <a:rPr sz="2400" b="0" i="1">
                <a:solidFill>
                  <a:srgbClr val="5B6770"/>
                </a:solidFill>
                <a:latin typeface="Calibri"/>
              </a:rPr>
              <a:t>Two forests are compared with the five single measures. The forest that also gets PageRank as an input (the original design) just copies it — 99.8 % of its feature importance — so the forest without it is the main model.</a:t>
            </a:r>
          </a:p>
        </p:txBody>
      </p:sp>
      <p:sp>
        <p:nvSpPr>
          <p:cNvPr id="59" name="section 5 marker"/>
          <p:cNvSpPr/>
          <p:nvPr/>
        </p:nvSpPr>
        <p:spPr>
          <a:xfrm>
            <a:off x="1097280" y="20528280"/>
            <a:ext cx="960120" cy="960120"/>
          </a:xfrm>
          <a:prstGeom prst="ellipse">
            <a:avLst/>
          </a:prstGeom>
          <a:solidFill>
            <a:srgbClr val="1329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000" b="1">
                <a:solidFill>
                  <a:srgbClr val="FFFFFF"/>
                </a:solidFill>
                <a:latin typeface="Cambria"/>
              </a:rPr>
              <a:t>5</a:t>
            </a:r>
          </a:p>
        </p:txBody>
      </p:sp>
      <p:sp>
        <p:nvSpPr>
          <p:cNvPr id="60" name="section 5 title"/>
          <p:cNvSpPr txBox="1"/>
          <p:nvPr/>
        </p:nvSpPr>
        <p:spPr>
          <a:xfrm>
            <a:off x="2377440" y="20528280"/>
            <a:ext cx="26801280" cy="960120"/>
          </a:xfrm>
          <a:prstGeom prst="rect">
            <a:avLst/>
          </a:prstGeom>
          <a:noFill/>
        </p:spPr>
        <p:txBody>
          <a:bodyPr wrap="square" lIns="0" rIns="0" tIns="0" bIns="0" anchor="ctr">
            <a:spAutoFit/>
          </a:bodyPr>
          <a:lstStyle/>
          <a:p>
            <a:pPr algn="l">
              <a:lnSpc>
                <a:spcPct val="105000"/>
              </a:lnSpc>
              <a:spcAft>
                <a:spcPts val="0"/>
              </a:spcAft>
            </a:pPr>
            <a:r>
              <a:rPr sz="5000" b="1" i="0">
                <a:solidFill>
                  <a:srgbClr val="13293D"/>
                </a:solidFill>
                <a:latin typeface="Cambria"/>
              </a:rPr>
              <a:t>How much does the ranking change?</a:t>
            </a:r>
          </a:p>
        </p:txBody>
      </p:sp>
      <p:cxnSp>
        <p:nvCxnSpPr>
          <p:cNvPr id="61" name="legend line 1"/>
          <p:cNvCxnSpPr/>
          <p:nvPr/>
        </p:nvCxnSpPr>
        <p:spPr>
          <a:xfrm>
            <a:off x="1097280" y="22128480"/>
            <a:ext cx="731520" cy="0"/>
          </a:xfrm>
          <a:prstGeom prst="line">
            <a:avLst/>
          </a:prstGeom>
          <a:ln w="101600">
            <a:solidFill>
              <a:srgbClr val="D98E04"/>
            </a:solidFill>
          </a:ln>
        </p:spPr>
        <p:style>
          <a:lnRef idx="2">
            <a:schemeClr val="accent1"/>
          </a:lnRef>
          <a:fillRef idx="0">
            <a:schemeClr val="accent1"/>
          </a:fillRef>
          <a:effectRef idx="1">
            <a:schemeClr val="accent1"/>
          </a:effectRef>
          <a:fontRef idx="minor">
            <a:schemeClr val="tx1"/>
          </a:fontRef>
        </p:style>
      </p:cxnSp>
      <p:sp>
        <p:nvSpPr>
          <p:cNvPr id="62" name="legend label 1"/>
          <p:cNvSpPr txBox="1"/>
          <p:nvPr/>
        </p:nvSpPr>
        <p:spPr>
          <a:xfrm>
            <a:off x="2011680" y="21854160"/>
            <a:ext cx="4928616" cy="548640"/>
          </a:xfrm>
          <a:prstGeom prst="rect">
            <a:avLst/>
          </a:prstGeom>
          <a:noFill/>
        </p:spPr>
        <p:txBody>
          <a:bodyPr wrap="square" lIns="0" rIns="0" tIns="0" bIns="0" anchor="ctr">
            <a:spAutoFit/>
          </a:bodyPr>
          <a:lstStyle/>
          <a:p>
            <a:pPr algn="l">
              <a:lnSpc>
                <a:spcPct val="105000"/>
              </a:lnSpc>
              <a:spcAft>
                <a:spcPts val="0"/>
              </a:spcAft>
            </a:pPr>
            <a:r>
              <a:rPr sz="2300" b="1" i="0">
                <a:solidFill>
                  <a:srgbClr val="1F2A33"/>
                </a:solidFill>
                <a:latin typeface="Calibri"/>
              </a:rPr>
              <a:t>Random Forest (no PageRank input)</a:t>
            </a:r>
          </a:p>
        </p:txBody>
      </p:sp>
      <p:cxnSp>
        <p:nvCxnSpPr>
          <p:cNvPr id="63" name="legend line 2"/>
          <p:cNvCxnSpPr/>
          <p:nvPr/>
        </p:nvCxnSpPr>
        <p:spPr>
          <a:xfrm>
            <a:off x="7031736" y="22128480"/>
            <a:ext cx="731520" cy="0"/>
          </a:xfrm>
          <a:prstGeom prst="line">
            <a:avLst/>
          </a:prstGeom>
          <a:ln w="69850">
            <a:solidFill>
              <a:srgbClr val="F2C57C"/>
            </a:solidFill>
          </a:ln>
        </p:spPr>
        <p:style>
          <a:lnRef idx="2">
            <a:schemeClr val="accent1"/>
          </a:lnRef>
          <a:fillRef idx="0">
            <a:schemeClr val="accent1"/>
          </a:fillRef>
          <a:effectRef idx="1">
            <a:schemeClr val="accent1"/>
          </a:effectRef>
          <a:fontRef idx="minor">
            <a:schemeClr val="tx1"/>
          </a:fontRef>
        </p:style>
      </p:cxnSp>
      <p:sp>
        <p:nvSpPr>
          <p:cNvPr id="64" name="legend label 2"/>
          <p:cNvSpPr txBox="1"/>
          <p:nvPr/>
        </p:nvSpPr>
        <p:spPr>
          <a:xfrm>
            <a:off x="7946136" y="21854160"/>
            <a:ext cx="5166360" cy="548640"/>
          </a:xfrm>
          <a:prstGeom prst="rect">
            <a:avLst/>
          </a:prstGeom>
          <a:noFill/>
        </p:spPr>
        <p:txBody>
          <a:bodyPr wrap="square" lIns="0" rIns="0" tIns="0" bIns="0" anchor="ctr">
            <a:spAutoFit/>
          </a:bodyPr>
          <a:lstStyle/>
          <a:p>
            <a:pPr algn="l">
              <a:lnSpc>
                <a:spcPct val="105000"/>
              </a:lnSpc>
              <a:spcAft>
                <a:spcPts val="0"/>
              </a:spcAft>
            </a:pPr>
            <a:r>
              <a:rPr sz="2300" b="0" i="0">
                <a:solidFill>
                  <a:srgbClr val="1F2A33"/>
                </a:solidFill>
                <a:latin typeface="Calibri"/>
              </a:rPr>
              <a:t>Random Forest (with PageRank input)</a:t>
            </a:r>
          </a:p>
        </p:txBody>
      </p:sp>
      <p:cxnSp>
        <p:nvCxnSpPr>
          <p:cNvPr id="65" name="legend line 3"/>
          <p:cNvCxnSpPr/>
          <p:nvPr/>
        </p:nvCxnSpPr>
        <p:spPr>
          <a:xfrm>
            <a:off x="13203936" y="22128480"/>
            <a:ext cx="731520" cy="0"/>
          </a:xfrm>
          <a:prstGeom prst="line">
            <a:avLst/>
          </a:prstGeom>
          <a:ln w="69850">
            <a:solidFill>
              <a:srgbClr val="B23A48"/>
            </a:solidFill>
          </a:ln>
        </p:spPr>
        <p:style>
          <a:lnRef idx="2">
            <a:schemeClr val="accent1"/>
          </a:lnRef>
          <a:fillRef idx="0">
            <a:schemeClr val="accent1"/>
          </a:fillRef>
          <a:effectRef idx="1">
            <a:schemeClr val="accent1"/>
          </a:effectRef>
          <a:fontRef idx="minor">
            <a:schemeClr val="tx1"/>
          </a:fontRef>
        </p:style>
      </p:cxnSp>
      <p:sp>
        <p:nvSpPr>
          <p:cNvPr id="66" name="legend label 3"/>
          <p:cNvSpPr txBox="1"/>
          <p:nvPr/>
        </p:nvSpPr>
        <p:spPr>
          <a:xfrm>
            <a:off x="14118336" y="21854160"/>
            <a:ext cx="1956816" cy="548640"/>
          </a:xfrm>
          <a:prstGeom prst="rect">
            <a:avLst/>
          </a:prstGeom>
          <a:noFill/>
        </p:spPr>
        <p:txBody>
          <a:bodyPr wrap="square" lIns="0" rIns="0" tIns="0" bIns="0" anchor="ctr">
            <a:spAutoFit/>
          </a:bodyPr>
          <a:lstStyle/>
          <a:p>
            <a:pPr algn="l">
              <a:lnSpc>
                <a:spcPct val="105000"/>
              </a:lnSpc>
              <a:spcAft>
                <a:spcPts val="0"/>
              </a:spcAft>
            </a:pPr>
            <a:r>
              <a:rPr sz="2300" b="0" i="0">
                <a:solidFill>
                  <a:srgbClr val="1F2A33"/>
                </a:solidFill>
                <a:latin typeface="Calibri"/>
              </a:rPr>
              <a:t>PageRank</a:t>
            </a:r>
          </a:p>
        </p:txBody>
      </p:sp>
      <p:cxnSp>
        <p:nvCxnSpPr>
          <p:cNvPr id="67" name="legend line 4"/>
          <p:cNvCxnSpPr/>
          <p:nvPr/>
        </p:nvCxnSpPr>
        <p:spPr>
          <a:xfrm>
            <a:off x="16166592" y="22128480"/>
            <a:ext cx="731520" cy="0"/>
          </a:xfrm>
          <a:prstGeom prst="line">
            <a:avLst/>
          </a:prstGeom>
          <a:ln w="57150">
            <a:solidFill>
              <a:srgbClr val="5B8E7D"/>
            </a:solidFill>
          </a:ln>
        </p:spPr>
        <p:style>
          <a:lnRef idx="2">
            <a:schemeClr val="accent1"/>
          </a:lnRef>
          <a:fillRef idx="0">
            <a:schemeClr val="accent1"/>
          </a:fillRef>
          <a:effectRef idx="1">
            <a:schemeClr val="accent1"/>
          </a:effectRef>
          <a:fontRef idx="minor">
            <a:schemeClr val="tx1"/>
          </a:fontRef>
        </p:style>
      </p:cxnSp>
      <p:sp>
        <p:nvSpPr>
          <p:cNvPr id="68" name="legend label 4"/>
          <p:cNvSpPr txBox="1"/>
          <p:nvPr/>
        </p:nvSpPr>
        <p:spPr>
          <a:xfrm>
            <a:off x="17080992" y="21854160"/>
            <a:ext cx="2075688" cy="548640"/>
          </a:xfrm>
          <a:prstGeom prst="rect">
            <a:avLst/>
          </a:prstGeom>
          <a:noFill/>
        </p:spPr>
        <p:txBody>
          <a:bodyPr wrap="square" lIns="0" rIns="0" tIns="0" bIns="0" anchor="ctr">
            <a:spAutoFit/>
          </a:bodyPr>
          <a:lstStyle/>
          <a:p>
            <a:pPr algn="l">
              <a:lnSpc>
                <a:spcPct val="105000"/>
              </a:lnSpc>
              <a:spcAft>
                <a:spcPts val="0"/>
              </a:spcAft>
            </a:pPr>
            <a:r>
              <a:rPr sz="2300" b="0" i="0">
                <a:solidFill>
                  <a:srgbClr val="1F2A33"/>
                </a:solidFill>
                <a:latin typeface="Calibri"/>
              </a:rPr>
              <a:t>Closeness</a:t>
            </a:r>
          </a:p>
        </p:txBody>
      </p:sp>
      <p:cxnSp>
        <p:nvCxnSpPr>
          <p:cNvPr id="69" name="legend line 5"/>
          <p:cNvCxnSpPr/>
          <p:nvPr/>
        </p:nvCxnSpPr>
        <p:spPr>
          <a:xfrm>
            <a:off x="19248120" y="22128480"/>
            <a:ext cx="731520" cy="0"/>
          </a:xfrm>
          <a:prstGeom prst="line">
            <a:avLst/>
          </a:prstGeom>
          <a:ln w="57150">
            <a:solidFill>
              <a:srgbClr val="7A8B99"/>
            </a:solidFill>
          </a:ln>
        </p:spPr>
        <p:style>
          <a:lnRef idx="2">
            <a:schemeClr val="accent1"/>
          </a:lnRef>
          <a:fillRef idx="0">
            <a:schemeClr val="accent1"/>
          </a:fillRef>
          <a:effectRef idx="1">
            <a:schemeClr val="accent1"/>
          </a:effectRef>
          <a:fontRef idx="minor">
            <a:schemeClr val="tx1"/>
          </a:fontRef>
        </p:style>
      </p:cxnSp>
      <p:sp>
        <p:nvSpPr>
          <p:cNvPr id="70" name="legend label 5"/>
          <p:cNvSpPr txBox="1"/>
          <p:nvPr/>
        </p:nvSpPr>
        <p:spPr>
          <a:xfrm>
            <a:off x="20162520" y="21854160"/>
            <a:ext cx="1719072" cy="548640"/>
          </a:xfrm>
          <a:prstGeom prst="rect">
            <a:avLst/>
          </a:prstGeom>
          <a:noFill/>
        </p:spPr>
        <p:txBody>
          <a:bodyPr wrap="square" lIns="0" rIns="0" tIns="0" bIns="0" anchor="ctr">
            <a:spAutoFit/>
          </a:bodyPr>
          <a:lstStyle/>
          <a:p>
            <a:pPr algn="l">
              <a:lnSpc>
                <a:spcPct val="105000"/>
              </a:lnSpc>
              <a:spcAft>
                <a:spcPts val="0"/>
              </a:spcAft>
            </a:pPr>
            <a:r>
              <a:rPr sz="2300" b="0" i="0">
                <a:solidFill>
                  <a:srgbClr val="1F2A33"/>
                </a:solidFill>
                <a:latin typeface="Calibri"/>
              </a:rPr>
              <a:t>Degree</a:t>
            </a:r>
          </a:p>
        </p:txBody>
      </p:sp>
      <p:graphicFrame>
        <p:nvGraphicFramePr>
          <p:cNvPr id="71" name="chart spearman remove"/>
          <p:cNvGraphicFramePr>
            <a:graphicFrameLocks noGrp="1"/>
          </p:cNvGraphicFramePr>
          <p:nvPr/>
        </p:nvGraphicFramePr>
        <p:xfrm>
          <a:off x="1097280" y="22539960"/>
          <a:ext cx="9116640" cy="5120640"/>
        </p:xfrm>
        <a:graphic>
          <a:graphicData uri="http://schemas.openxmlformats.org/drawingml/2006/chart">
            <c:chart xmlns:c="http://schemas.openxmlformats.org/drawingml/2006/chart" r:id="rId3"/>
          </a:graphicData>
        </a:graphic>
      </p:graphicFrame>
      <p:graphicFrame>
        <p:nvGraphicFramePr>
          <p:cNvPr id="72" name="chart spearman add_dag"/>
          <p:cNvGraphicFramePr>
            <a:graphicFrameLocks noGrp="1"/>
          </p:cNvGraphicFramePr>
          <p:nvPr/>
        </p:nvGraphicFramePr>
        <p:xfrm>
          <a:off x="10579680" y="22539960"/>
          <a:ext cx="9116640" cy="5120640"/>
        </p:xfrm>
        <a:graphic>
          <a:graphicData uri="http://schemas.openxmlformats.org/drawingml/2006/chart">
            <c:chart xmlns:c="http://schemas.openxmlformats.org/drawingml/2006/chart" r:id="rId4"/>
          </a:graphicData>
        </a:graphic>
      </p:graphicFrame>
      <p:graphicFrame>
        <p:nvGraphicFramePr>
          <p:cNvPr id="73" name="chart spearman add_random"/>
          <p:cNvGraphicFramePr>
            <a:graphicFrameLocks noGrp="1"/>
          </p:cNvGraphicFramePr>
          <p:nvPr/>
        </p:nvGraphicFramePr>
        <p:xfrm>
          <a:off x="20062080" y="22539960"/>
          <a:ext cx="9116640" cy="5120640"/>
        </p:xfrm>
        <a:graphic>
          <a:graphicData uri="http://schemas.openxmlformats.org/drawingml/2006/chart">
            <c:chart xmlns:c="http://schemas.openxmlformats.org/drawingml/2006/chart" r:id="rId5"/>
          </a:graphicData>
        </a:graphic>
      </p:graphicFrame>
      <p:sp>
        <p:nvSpPr>
          <p:cNvPr id="74" name="spearman caption"/>
          <p:cNvSpPr txBox="1"/>
          <p:nvPr/>
        </p:nvSpPr>
        <p:spPr>
          <a:xfrm>
            <a:off x="1097280" y="27797760"/>
            <a:ext cx="28081440" cy="822960"/>
          </a:xfrm>
          <a:prstGeom prst="rect">
            <a:avLst/>
          </a:prstGeom>
          <a:noFill/>
        </p:spPr>
        <p:txBody>
          <a:bodyPr wrap="square" lIns="0" rIns="0" tIns="0" bIns="0" anchor="t">
            <a:spAutoFit/>
          </a:bodyPr>
          <a:lstStyle/>
          <a:p>
            <a:pPr algn="l">
              <a:lnSpc>
                <a:spcPct val="105000"/>
              </a:lnSpc>
              <a:spcAft>
                <a:spcPts val="0"/>
              </a:spcAft>
            </a:pPr>
            <a:r>
              <a:rPr sz="2400" b="0" i="0">
                <a:solidFill>
                  <a:srgbClr val="5B6770"/>
                </a:solidFill>
                <a:latin typeface="Calibri"/>
              </a:rPr>
              <a:t>Mean Spearman correlation between the original ranking and the damaged one (30 runs per point; the runs agree closely). The forest beats PageRank when citations are added, not when they are removed. Left panel: PageRank, closeness and the forest with PageRank input lie on top of each other. k‑core (not shown) behaves like degree.</a:t>
            </a:r>
          </a:p>
        </p:txBody>
      </p:sp>
      <p:sp>
        <p:nvSpPr>
          <p:cNvPr id="75" name="section 6 marker"/>
          <p:cNvSpPr/>
          <p:nvPr/>
        </p:nvSpPr>
        <p:spPr>
          <a:xfrm>
            <a:off x="1097280" y="28849320"/>
            <a:ext cx="960120" cy="960120"/>
          </a:xfrm>
          <a:prstGeom prst="ellipse">
            <a:avLst/>
          </a:prstGeom>
          <a:solidFill>
            <a:srgbClr val="1329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000" b="1">
                <a:solidFill>
                  <a:srgbClr val="FFFFFF"/>
                </a:solidFill>
                <a:latin typeface="Cambria"/>
              </a:rPr>
              <a:t>6</a:t>
            </a:r>
          </a:p>
        </p:txBody>
      </p:sp>
      <p:sp>
        <p:nvSpPr>
          <p:cNvPr id="76" name="section 6 title"/>
          <p:cNvSpPr txBox="1"/>
          <p:nvPr/>
        </p:nvSpPr>
        <p:spPr>
          <a:xfrm>
            <a:off x="2377440" y="28849320"/>
            <a:ext cx="12394800" cy="960120"/>
          </a:xfrm>
          <a:prstGeom prst="rect">
            <a:avLst/>
          </a:prstGeom>
          <a:noFill/>
        </p:spPr>
        <p:txBody>
          <a:bodyPr wrap="square" lIns="0" rIns="0" tIns="0" bIns="0" anchor="ctr">
            <a:spAutoFit/>
          </a:bodyPr>
          <a:lstStyle/>
          <a:p>
            <a:pPr algn="l">
              <a:lnSpc>
                <a:spcPct val="105000"/>
              </a:lnSpc>
              <a:spcAft>
                <a:spcPts val="0"/>
              </a:spcAft>
            </a:pPr>
            <a:r>
              <a:rPr sz="5000" b="1" i="0">
                <a:solidFill>
                  <a:srgbClr val="13293D"/>
                </a:solidFill>
                <a:latin typeface="Cambria"/>
              </a:rPr>
              <a:t>Do the top papers stay on top?</a:t>
            </a:r>
          </a:p>
        </p:txBody>
      </p:sp>
      <p:graphicFrame>
        <p:nvGraphicFramePr>
          <p:cNvPr id="77" name="chart stay in top"/>
          <p:cNvGraphicFramePr>
            <a:graphicFrameLocks noGrp="1"/>
          </p:cNvGraphicFramePr>
          <p:nvPr/>
        </p:nvGraphicFramePr>
        <p:xfrm>
          <a:off x="1097280" y="30175200"/>
          <a:ext cx="13674960" cy="4937760"/>
        </p:xfrm>
        <a:graphic>
          <a:graphicData uri="http://schemas.openxmlformats.org/drawingml/2006/chart">
            <c:chart xmlns:c="http://schemas.openxmlformats.org/drawingml/2006/chart" r:id="rId6"/>
          </a:graphicData>
        </a:graphic>
      </p:graphicFrame>
      <p:sp>
        <p:nvSpPr>
          <p:cNvPr id="78" name="stay caption"/>
          <p:cNvSpPr txBox="1"/>
          <p:nvPr/>
        </p:nvSpPr>
        <p:spPr>
          <a:xfrm>
            <a:off x="1097280" y="35204400"/>
            <a:ext cx="13674960" cy="1005840"/>
          </a:xfrm>
          <a:prstGeom prst="rect">
            <a:avLst/>
          </a:prstGeom>
          <a:noFill/>
        </p:spPr>
        <p:txBody>
          <a:bodyPr wrap="square" lIns="0" rIns="0" tIns="0" bIns="0" anchor="t">
            <a:spAutoFit/>
          </a:bodyPr>
          <a:lstStyle/>
          <a:p>
            <a:pPr algn="l">
              <a:lnSpc>
                <a:spcPct val="105000"/>
              </a:lnSpc>
              <a:spcAft>
                <a:spcPts val="0"/>
              </a:spcAft>
            </a:pPr>
            <a:r>
              <a:rPr sz="2400" b="0" i="0">
                <a:solidFill>
                  <a:srgbClr val="5B6770"/>
                </a:solidFill>
                <a:latin typeface="Calibri"/>
              </a:rPr>
              <a:t>Share of runs in which a top‑10 % paper is still in the top 10 %, at 20 % damage. Under added noise most of PageRank’s top papers are fragile; the forest keeps more of them.</a:t>
            </a:r>
          </a:p>
        </p:txBody>
      </p:sp>
      <p:sp>
        <p:nvSpPr>
          <p:cNvPr id="79" name="section 7 marker"/>
          <p:cNvSpPr/>
          <p:nvPr/>
        </p:nvSpPr>
        <p:spPr>
          <a:xfrm>
            <a:off x="15503760" y="28849320"/>
            <a:ext cx="960120" cy="960120"/>
          </a:xfrm>
          <a:prstGeom prst="ellipse">
            <a:avLst/>
          </a:prstGeom>
          <a:solidFill>
            <a:srgbClr val="1329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000" b="1">
                <a:solidFill>
                  <a:srgbClr val="FFFFFF"/>
                </a:solidFill>
                <a:latin typeface="Cambria"/>
              </a:rPr>
              <a:t>7</a:t>
            </a:r>
          </a:p>
        </p:txBody>
      </p:sp>
      <p:sp>
        <p:nvSpPr>
          <p:cNvPr id="80" name="section 7 title"/>
          <p:cNvSpPr txBox="1"/>
          <p:nvPr/>
        </p:nvSpPr>
        <p:spPr>
          <a:xfrm>
            <a:off x="16783920" y="28849320"/>
            <a:ext cx="12394800" cy="960120"/>
          </a:xfrm>
          <a:prstGeom prst="rect">
            <a:avLst/>
          </a:prstGeom>
          <a:noFill/>
        </p:spPr>
        <p:txBody>
          <a:bodyPr wrap="square" lIns="0" rIns="0" tIns="0" bIns="0" anchor="ctr">
            <a:spAutoFit/>
          </a:bodyPr>
          <a:lstStyle/>
          <a:p>
            <a:pPr algn="l">
              <a:lnSpc>
                <a:spcPct val="105000"/>
              </a:lnSpc>
              <a:spcAft>
                <a:spcPts val="0"/>
              </a:spcAft>
            </a:pPr>
            <a:r>
              <a:rPr sz="5000" b="1" i="0">
                <a:solidFill>
                  <a:srgbClr val="13293D"/>
                </a:solidFill>
                <a:latin typeface="Cambria"/>
              </a:rPr>
              <a:t>The hypotheses</a:t>
            </a:r>
          </a:p>
        </p:txBody>
      </p:sp>
      <p:graphicFrame>
        <p:nvGraphicFramePr>
          <p:cNvPr id="81" name="hypotheses table"/>
          <p:cNvGraphicFramePr>
            <a:graphicFrameLocks noGrp="1"/>
          </p:cNvGraphicFramePr>
          <p:nvPr/>
        </p:nvGraphicFramePr>
        <p:xfrm>
          <a:off x="15503760" y="30175200"/>
          <a:ext cx="13674959" cy="5806440"/>
        </p:xfrm>
        <a:graphic>
          <a:graphicData uri="http://schemas.openxmlformats.org/drawingml/2006/table">
            <a:tbl>
              <a:tblPr firstRow="1" bandRow="1">
                <a:tableStyleId>{5C22544A-7EE6-4342-B048-85BDC9FD1C3A}</a:tableStyleId>
              </a:tblPr>
              <a:tblGrid>
                <a:gridCol w="4922985"/>
                <a:gridCol w="2734992"/>
                <a:gridCol w="6016982"/>
              </a:tblGrid>
              <a:tr h="731520">
                <a:tc>
                  <a:txBody>
                    <a:bodyPr wrap="square"/>
                    <a:lstStyle/>
                    <a:p>
                      <a:r>
                        <a:rPr sz="2400" b="1">
                          <a:solidFill>
                            <a:srgbClr val="FFFFFF"/>
                          </a:solidFill>
                          <a:latin typeface="Calibri"/>
                        </a:rPr>
                        <a:t>Hypothesis</a:t>
                      </a:r>
                    </a:p>
                  </a:txBody>
                  <a:tcPr marL="182880" marR="182880" marT="109728" marB="109728" anchor="ctr">
                    <a:solidFill>
                      <a:srgbClr val="13293D"/>
                    </a:solidFill>
                  </a:tcPr>
                </a:tc>
                <a:tc>
                  <a:txBody>
                    <a:bodyPr wrap="square"/>
                    <a:lstStyle/>
                    <a:p>
                      <a:r>
                        <a:rPr sz="2400" b="1">
                          <a:solidFill>
                            <a:srgbClr val="FFFFFF"/>
                          </a:solidFill>
                          <a:latin typeface="Calibri"/>
                        </a:rPr>
                        <a:t>Verdict</a:t>
                      </a:r>
                    </a:p>
                  </a:txBody>
                  <a:tcPr marL="182880" marR="182880" marT="109728" marB="109728" anchor="ctr">
                    <a:solidFill>
                      <a:srgbClr val="13293D"/>
                    </a:solidFill>
                  </a:tcPr>
                </a:tc>
                <a:tc>
                  <a:txBody>
                    <a:bodyPr wrap="square"/>
                    <a:lstStyle/>
                    <a:p>
                      <a:r>
                        <a:rPr sz="2400" b="1">
                          <a:solidFill>
                            <a:srgbClr val="FFFFFF"/>
                          </a:solidFill>
                          <a:latin typeface="Calibri"/>
                        </a:rPr>
                        <a:t>What we found</a:t>
                      </a:r>
                    </a:p>
                  </a:txBody>
                  <a:tcPr marL="182880" marR="182880" marT="109728" marB="109728" anchor="ctr">
                    <a:solidFill>
                      <a:srgbClr val="13293D"/>
                    </a:solidFill>
                  </a:tcPr>
                </a:tc>
              </a:tr>
              <a:tr h="1691640">
                <a:tc>
                  <a:txBody>
                    <a:bodyPr wrap="square"/>
                    <a:lstStyle/>
                    <a:p>
                      <a:r>
                        <a:rPr sz="2200" b="1">
                          <a:solidFill>
                            <a:srgbClr val="13293D"/>
                          </a:solidFill>
                          <a:latin typeface="Calibri"/>
                        </a:rPr>
                        <a:t>H1  Learned rankings are more stable than single measures</a:t>
                      </a:r>
                    </a:p>
                  </a:txBody>
                  <a:tcPr marL="182880" marR="182880" marT="109728" marB="109728" anchor="ctr">
                    <a:solidFill>
                      <a:srgbClr val="EEF2F5"/>
                    </a:solidFill>
                  </a:tcPr>
                </a:tc>
                <a:tc>
                  <a:txBody>
                    <a:bodyPr wrap="square"/>
                    <a:lstStyle/>
                    <a:p>
                      <a:r>
                        <a:rPr sz="2400" b="1">
                          <a:solidFill>
                            <a:srgbClr val="D98E04"/>
                          </a:solidFill>
                          <a:latin typeface="Calibri"/>
                        </a:rPr>
                        <a:t>Partly</a:t>
                      </a:r>
                    </a:p>
                  </a:txBody>
                  <a:tcPr marL="182880" marR="182880" marT="109728" marB="109728" anchor="ctr">
                    <a:solidFill>
                      <a:srgbClr val="EEF2F5"/>
                    </a:solidFill>
                  </a:tcPr>
                </a:tc>
                <a:tc>
                  <a:txBody>
                    <a:bodyPr wrap="square"/>
                    <a:lstStyle/>
                    <a:p>
                      <a:r>
                        <a:rPr sz="2200" b="0">
                          <a:solidFill>
                            <a:srgbClr val="1F2A33"/>
                          </a:solidFill>
                          <a:latin typeface="Calibri"/>
                        </a:rPr>
                        <a:t>Better than PageRank under added noise; worse under removal; never better than degree or k‑core</a:t>
                      </a:r>
                    </a:p>
                  </a:txBody>
                  <a:tcPr marL="182880" marR="182880" marT="109728" marB="109728" anchor="ctr">
                    <a:solidFill>
                      <a:srgbClr val="EEF2F5"/>
                    </a:solidFill>
                  </a:tcPr>
                </a:tc>
              </a:tr>
              <a:tr h="1691640">
                <a:tc>
                  <a:txBody>
                    <a:bodyPr wrap="square"/>
                    <a:lstStyle/>
                    <a:p>
                      <a:r>
                        <a:rPr sz="2200" b="1">
                          <a:solidFill>
                            <a:srgbClr val="13293D"/>
                          </a:solidFill>
                          <a:latin typeface="Calibri"/>
                        </a:rPr>
                        <a:t>H2  The forest absorbs a shock to one feature</a:t>
                      </a:r>
                    </a:p>
                  </a:txBody>
                  <a:tcPr marL="182880" marR="182880" marT="109728" marB="109728" anchor="ctr">
                    <a:solidFill>
                      <a:srgbClr val="FFFFFF"/>
                    </a:solidFill>
                  </a:tcPr>
                </a:tc>
                <a:tc>
                  <a:txBody>
                    <a:bodyPr wrap="square"/>
                    <a:lstStyle/>
                    <a:p>
                      <a:r>
                        <a:rPr sz="2400" b="1">
                          <a:solidFill>
                            <a:srgbClr val="B23A48"/>
                          </a:solidFill>
                          <a:latin typeface="Calibri"/>
                        </a:rPr>
                        <a:t>Not supported</a:t>
                      </a:r>
                    </a:p>
                  </a:txBody>
                  <a:tcPr marL="182880" marR="182880" marT="109728" marB="109728" anchor="ctr">
                    <a:solidFill>
                      <a:srgbClr val="FFFFFF"/>
                    </a:solidFill>
                  </a:tcPr>
                </a:tc>
                <a:tc>
                  <a:txBody>
                    <a:bodyPr wrap="square"/>
                    <a:lstStyle/>
                    <a:p>
                      <a:r>
                        <a:rPr sz="2200" b="0">
                          <a:solidFill>
                            <a:srgbClr val="1F2A33"/>
                          </a:solidFill>
                          <a:latin typeface="Calibri"/>
                        </a:rPr>
                        <a:t>The forest with PageRank input relies on it and collapses with it — less stable than PageRank itself</a:t>
                      </a:r>
                    </a:p>
                  </a:txBody>
                  <a:tcPr marL="182880" marR="182880" marT="109728" marB="109728" anchor="ctr">
                    <a:solidFill>
                      <a:srgbClr val="FFFFFF"/>
                    </a:solidFill>
                  </a:tcPr>
                </a:tc>
              </a:tr>
              <a:tr h="1691640">
                <a:tc>
                  <a:txBody>
                    <a:bodyPr wrap="square"/>
                    <a:lstStyle/>
                    <a:p>
                      <a:r>
                        <a:rPr sz="2200" b="1">
                          <a:solidFill>
                            <a:srgbClr val="13293D"/>
                          </a:solidFill>
                          <a:latin typeface="Calibri"/>
                        </a:rPr>
                        <a:t>H3  Key papers keep a high rank</a:t>
                      </a:r>
                    </a:p>
                  </a:txBody>
                  <a:tcPr marL="182880" marR="182880" marT="109728" marB="109728" anchor="ctr">
                    <a:solidFill>
                      <a:srgbClr val="EEF2F5"/>
                    </a:solidFill>
                  </a:tcPr>
                </a:tc>
                <a:tc>
                  <a:txBody>
                    <a:bodyPr wrap="square"/>
                    <a:lstStyle/>
                    <a:p>
                      <a:r>
                        <a:rPr sz="2400" b="1">
                          <a:solidFill>
                            <a:srgbClr val="3E7D5A"/>
                          </a:solidFill>
                          <a:latin typeface="Calibri"/>
                        </a:rPr>
                        <a:t>Supported</a:t>
                      </a:r>
                    </a:p>
                  </a:txBody>
                  <a:tcPr marL="182880" marR="182880" marT="109728" marB="109728" anchor="ctr">
                    <a:solidFill>
                      <a:srgbClr val="EEF2F5"/>
                    </a:solidFill>
                  </a:tcPr>
                </a:tc>
                <a:tc>
                  <a:txBody>
                    <a:bodyPr wrap="square"/>
                    <a:lstStyle/>
                    <a:p>
                      <a:r>
                        <a:rPr sz="2200" b="0">
                          <a:solidFill>
                            <a:srgbClr val="1F2A33"/>
                          </a:solidFill>
                          <a:latin typeface="Calibri"/>
                        </a:rPr>
                        <a:t>Core papers stay in the top 10 % in 65–94 % of runs (adjusted core rule)</a:t>
                      </a:r>
                    </a:p>
                  </a:txBody>
                  <a:tcPr marL="182880" marR="182880" marT="109728" marB="109728" anchor="ctr">
                    <a:solidFill>
                      <a:srgbClr val="EEF2F5"/>
                    </a:solidFill>
                  </a:tcPr>
                </a:tc>
              </a:tr>
            </a:tbl>
          </a:graphicData>
        </a:graphic>
      </p:graphicFrame>
      <p:sp>
        <p:nvSpPr>
          <p:cNvPr id="82" name="section 8 marker"/>
          <p:cNvSpPr/>
          <p:nvPr/>
        </p:nvSpPr>
        <p:spPr>
          <a:xfrm>
            <a:off x="1097280" y="36667440"/>
            <a:ext cx="960120" cy="960120"/>
          </a:xfrm>
          <a:prstGeom prst="ellipse">
            <a:avLst/>
          </a:prstGeom>
          <a:solidFill>
            <a:srgbClr val="1329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000" b="1">
                <a:solidFill>
                  <a:srgbClr val="FFFFFF"/>
                </a:solidFill>
                <a:latin typeface="Cambria"/>
              </a:rPr>
              <a:t>8</a:t>
            </a:r>
          </a:p>
        </p:txBody>
      </p:sp>
      <p:sp>
        <p:nvSpPr>
          <p:cNvPr id="83" name="section 8 title"/>
          <p:cNvSpPr txBox="1"/>
          <p:nvPr/>
        </p:nvSpPr>
        <p:spPr>
          <a:xfrm>
            <a:off x="2377440" y="36667440"/>
            <a:ext cx="12394800" cy="960120"/>
          </a:xfrm>
          <a:prstGeom prst="rect">
            <a:avLst/>
          </a:prstGeom>
          <a:noFill/>
        </p:spPr>
        <p:txBody>
          <a:bodyPr wrap="square" lIns="0" rIns="0" tIns="0" bIns="0" anchor="ctr">
            <a:spAutoFit/>
          </a:bodyPr>
          <a:lstStyle/>
          <a:p>
            <a:pPr algn="l">
              <a:lnSpc>
                <a:spcPct val="105000"/>
              </a:lnSpc>
              <a:spcAft>
                <a:spcPts val="0"/>
              </a:spcAft>
            </a:pPr>
            <a:r>
              <a:rPr sz="5000" b="1" i="0">
                <a:solidFill>
                  <a:srgbClr val="13293D"/>
                </a:solidFill>
                <a:latin typeface="Cambria"/>
              </a:rPr>
              <a:t>What the data taught us</a:t>
            </a:r>
          </a:p>
        </p:txBody>
      </p:sp>
      <p:sp>
        <p:nvSpPr>
          <p:cNvPr id="84" name="lessons"/>
          <p:cNvSpPr txBox="1"/>
          <p:nvPr/>
        </p:nvSpPr>
        <p:spPr>
          <a:xfrm>
            <a:off x="1097280" y="37993320"/>
            <a:ext cx="13674960" cy="3474720"/>
          </a:xfrm>
          <a:prstGeom prst="rect">
            <a:avLst/>
          </a:prstGeom>
          <a:noFill/>
        </p:spPr>
        <p:txBody>
          <a:bodyPr wrap="square" lIns="0" rIns="0" tIns="0" bIns="0" anchor="t">
            <a:spAutoFit/>
          </a:bodyPr>
          <a:lstStyle/>
          <a:p>
            <a:pPr algn="l" marL="411480" indent="-411480">
              <a:lnSpc>
                <a:spcPct val="100000"/>
              </a:lnSpc>
              <a:spcAft>
                <a:spcPts val="1000"/>
              </a:spcAft>
              <a:buClr>
                <a:srgbClr val="13293D"/>
              </a:buClr>
              <a:buFont typeface="Arial"/>
              <a:buChar char="•"/>
            </a:pPr>
            <a:r>
              <a:rPr sz="2500" b="1" i="0">
                <a:solidFill>
                  <a:srgbClr val="13293D"/>
                </a:solidFill>
                <a:latin typeface="Calibri"/>
              </a:rPr>
              <a:t>Ties look like stability. </a:t>
            </a:r>
            <a:r>
              <a:rPr sz="2500" b="0" i="0">
                <a:solidFill>
                  <a:srgbClr val="1F2A33"/>
                </a:solidFill>
                <a:latin typeface="Calibri"/>
              </a:rPr>
              <a:t>Betweenness is 0 for 91 % of papers, so over all papers it looks the most stable — yet its top 10 % is the least stable. Compare at the top.</a:t>
            </a:r>
          </a:p>
          <a:p>
            <a:pPr algn="l" marL="411480" indent="-411480">
              <a:lnSpc>
                <a:spcPct val="100000"/>
              </a:lnSpc>
              <a:spcAft>
                <a:spcPts val="1000"/>
              </a:spcAft>
              <a:buClr>
                <a:srgbClr val="13293D"/>
              </a:buClr>
              <a:buFont typeface="Arial"/>
              <a:buChar char="•"/>
            </a:pPr>
            <a:r>
              <a:rPr sz="2500" b="1" i="0">
                <a:solidFill>
                  <a:srgbClr val="13293D"/>
                </a:solidFill>
                <a:latin typeface="Calibri"/>
              </a:rPr>
              <a:t>Trees cannot extrapolate. </a:t>
            </a:r>
            <a:r>
              <a:rPr sz="2500" b="0" i="0">
                <a:solidFill>
                  <a:srgbClr val="1F2A33"/>
                </a:solidFill>
                <a:latin typeface="Calibri"/>
              </a:rPr>
              <a:t>After damage, up to 60 % of the inputs leave the training range and get one value. Part of the forest’s stability is blindness.</a:t>
            </a:r>
          </a:p>
          <a:p>
            <a:pPr algn="l" marL="411480" indent="-411480">
              <a:lnSpc>
                <a:spcPct val="100000"/>
              </a:lnSpc>
              <a:spcAft>
                <a:spcPts val="1000"/>
              </a:spcAft>
              <a:buClr>
                <a:srgbClr val="13293D"/>
              </a:buClr>
              <a:buFont typeface="Arial"/>
              <a:buChar char="•"/>
            </a:pPr>
            <a:r>
              <a:rPr sz="2500" b="1" i="0">
                <a:solidFill>
                  <a:srgbClr val="13293D"/>
                </a:solidFill>
                <a:latin typeface="Calibri"/>
              </a:rPr>
              <a:t>One citation, 1,545 places. </a:t>
            </a:r>
            <a:r>
              <a:rPr sz="2500" b="0" i="0">
                <a:solidFill>
                  <a:srgbClr val="1F2A33"/>
                </a:solidFill>
                <a:latin typeface="Calibri"/>
              </a:rPr>
              <a:t>Paper 15004560 fell from rank 67 to 1,612 after gaining one reference: its betweenness jumped from 0.</a:t>
            </a:r>
          </a:p>
        </p:txBody>
      </p:sp>
      <p:sp>
        <p:nvSpPr>
          <p:cNvPr id="85" name="conclusion panel"/>
          <p:cNvSpPr/>
          <p:nvPr/>
        </p:nvSpPr>
        <p:spPr>
          <a:xfrm>
            <a:off x="15503760" y="36667440"/>
            <a:ext cx="13674960" cy="4800600"/>
          </a:xfrm>
          <a:prstGeom prst="roundRect">
            <a:avLst>
              <a:gd name="adj" fmla="val 6000"/>
            </a:avLst>
          </a:prstGeom>
          <a:solidFill>
            <a:srgbClr val="1329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conclusion"/>
          <p:cNvSpPr txBox="1"/>
          <p:nvPr/>
        </p:nvSpPr>
        <p:spPr>
          <a:xfrm>
            <a:off x="16052400" y="37078920"/>
            <a:ext cx="12577680" cy="4023360"/>
          </a:xfrm>
          <a:prstGeom prst="rect">
            <a:avLst/>
          </a:prstGeom>
          <a:noFill/>
        </p:spPr>
        <p:txBody>
          <a:bodyPr wrap="square" lIns="0" rIns="0" tIns="0" bIns="0" anchor="t">
            <a:spAutoFit/>
          </a:bodyPr>
          <a:lstStyle/>
          <a:p>
            <a:pPr algn="l">
              <a:lnSpc>
                <a:spcPct val="105000"/>
              </a:lnSpc>
              <a:spcAft>
                <a:spcPts val="1400"/>
              </a:spcAft>
            </a:pPr>
            <a:r>
              <a:rPr sz="4600" b="1" i="0">
                <a:solidFill>
                  <a:srgbClr val="FFFFFF"/>
                </a:solidFill>
                <a:latin typeface="Cambria"/>
              </a:rPr>
              <a:t>Conclusion</a:t>
            </a:r>
          </a:p>
          <a:p>
            <a:pPr algn="l">
              <a:lnSpc>
                <a:spcPct val="105000"/>
              </a:lnSpc>
              <a:spcAft>
                <a:spcPts val="1800"/>
              </a:spcAft>
            </a:pPr>
            <a:r>
              <a:rPr sz="3000" b="0" i="0">
                <a:solidFill>
                  <a:srgbClr val="FFFFFF"/>
                </a:solidFill>
                <a:latin typeface="Calibri"/>
              </a:rPr>
              <a:t>A learned combination of centralities is more robust than PageRank against noisy citations, especially at the top of the ranking. The gain does not extend to missing citations, and simple local measures stay the most stable.</a:t>
            </a:r>
          </a:p>
          <a:p>
            <a:pPr algn="l">
              <a:lnSpc>
                <a:spcPct val="105000"/>
              </a:lnSpc>
              <a:spcAft>
                <a:spcPts val="0"/>
              </a:spcAft>
            </a:pPr>
            <a:r>
              <a:rPr sz="2600" b="1" i="0">
                <a:solidFill>
                  <a:srgbClr val="F2C57C"/>
                </a:solidFill>
                <a:latin typeface="Calibri"/>
              </a:rPr>
              <a:t>Limits: </a:t>
            </a:r>
            <a:r>
              <a:rPr sz="2600" b="0" i="0">
                <a:solidFill>
                  <a:srgbClr val="CADCE8"/>
                </a:solidFill>
                <a:latin typeface="Calibri"/>
              </a:rPr>
              <a:t>one dataset, one target (PageRank), one model type; trees cannot extrapolate.</a:t>
            </a:r>
          </a:p>
        </p:txBody>
      </p:sp>
      <p:sp>
        <p:nvSpPr>
          <p:cNvPr id="87" name="footer"/>
          <p:cNvSpPr txBox="1"/>
          <p:nvPr/>
        </p:nvSpPr>
        <p:spPr>
          <a:xfrm>
            <a:off x="1097280" y="41843880"/>
            <a:ext cx="28081440" cy="548640"/>
          </a:xfrm>
          <a:prstGeom prst="rect">
            <a:avLst/>
          </a:prstGeom>
          <a:noFill/>
        </p:spPr>
        <p:txBody>
          <a:bodyPr wrap="square" lIns="0" rIns="0" tIns="0" bIns="0" anchor="t">
            <a:spAutoFit/>
          </a:bodyPr>
          <a:lstStyle/>
          <a:p>
            <a:pPr algn="l">
              <a:lnSpc>
                <a:spcPct val="105000"/>
              </a:lnSpc>
              <a:spcAft>
                <a:spcPts val="0"/>
              </a:spcAft>
            </a:pPr>
            <a:r>
              <a:rPr sz="2000" b="0" i="0">
                <a:solidFill>
                  <a:srgbClr val="5B6770"/>
                </a:solidFill>
                <a:latin typeface="Calibri"/>
              </a:rPr>
              <a:t>Data: PubMed-Diabetes (Namata et al., 2012; LINQS).  Tools: Python, NetworkX, igraph, scikit-learn.  Code, notebooks and interactive demo: github.com/ShaharBar99/Final-Project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